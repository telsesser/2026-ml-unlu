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1b7713da_1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1b7713d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42fa1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742fa1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42fa1e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6742fa1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7ae16a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667ae16a20_1_19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8" name="Google Shape;68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7" name="Google Shape;77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1" name="Google Shape;121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466075" y="2800950"/>
            <a:ext cx="2428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66075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Decisiones secuenciales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Outline de la presentaci</a:t>
            </a:r>
            <a:r>
              <a:rPr lang="es" sz="2520">
                <a:solidFill>
                  <a:srgbClr val="1C4587"/>
                </a:solidFill>
              </a:rPr>
              <a:t>ón</a:t>
            </a:r>
            <a:endParaRPr sz="2520">
              <a:solidFill>
                <a:srgbClr val="1C4587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23550" y="1081175"/>
            <a:ext cx="8405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Decisiones bajo incertidumbre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Utilidad y máxima utilidad esperada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Exploración y explotación: tragamonedas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Decisiones secuenciales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Políticas y retorno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Procesos de decisión de Markov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Ecuaciones de Bellman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Iteración de valores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Aprendizaje por refuerzo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</a:t>
            </a:r>
            <a:r>
              <a:rPr sz="1300" b="1">
                <a:solidFill>
                  <a:srgbClr val="666666"/>
                </a:solidFill>
                <a:latin typeface="Roboto"/>
              </a:rPr>
              <a:t>agente</a:t>
            </a:r>
            <a:r>
              <a:rPr sz="1300" b="0">
                <a:solidFill>
                  <a:srgbClr val="666666"/>
                </a:solidFill>
                <a:latin typeface="Roboto"/>
              </a:rPr>
              <a:t> aprende qué hacer —una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</a:t>
            </a:r>
            <a:r>
              <a:rPr sz="1300" b="0">
                <a:solidFill>
                  <a:srgbClr val="666666"/>
                </a:solidFill>
                <a:latin typeface="Roboto"/>
              </a:rPr>
              <a:t>— interactuando con un </a:t>
            </a:r>
            <a:r>
              <a:rPr sz="1300" b="1">
                <a:solidFill>
                  <a:srgbClr val="666666"/>
                </a:solidFill>
                <a:latin typeface="Roboto"/>
              </a:rPr>
              <a:t>entorno</a:t>
            </a:r>
            <a:r>
              <a:rPr sz="1300" b="0">
                <a:solidFill>
                  <a:srgbClr val="666666"/>
                </a:solidFill>
                <a:latin typeface="Roboto"/>
              </a:rPr>
              <a:t>, para maximizar la </a:t>
            </a:r>
            <a:r>
              <a:rPr sz="1300" b="1">
                <a:solidFill>
                  <a:srgbClr val="666666"/>
                </a:solidFill>
                <a:latin typeface="Roboto"/>
              </a:rPr>
              <a:t>recompensa</a:t>
            </a:r>
            <a:r>
              <a:rPr sz="1300" b="0">
                <a:solidFill>
                  <a:srgbClr val="666666"/>
                </a:solidFill>
                <a:latin typeface="Roboto"/>
              </a:rPr>
              <a:t> que recibe a largo plazo.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1480" y="1907032"/>
            <a:ext cx="5029200" cy="12161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cada paso el agente observa el estado y elige una acción.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entorno responde con una recompensa y un nuevo estado.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Nadie le dice al agente cuál era la acción correcta: solo recibe recompensas, y muchas veces llegan tarde.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1480" y="3214624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El objetivo es encontrar la política que maximiza la recompensa acumulada.</a:t>
            </a:r>
          </a:p>
        </p:txBody>
      </p:sp>
      <p:pic>
        <p:nvPicPr>
          <p:cNvPr id="151" name="Picture 150" descr="agente-ento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901952"/>
            <a:ext cx="3017520" cy="1911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152" name="Google Shape;152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153" name="Google Shape;153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4" name="Google Shape;154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5" name="Google Shape;155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45075" y="1236975"/>
            <a:ext cx="7750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Russell, S., &amp; Norvig, P. (2021). Artificial Intelligence: A Modern Approach (4th ed., Global ed.). Pearson.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Sutton, R. S., &amp; Barto, A. G. (2018). Reinforcement Learning: An Introduction (2nd ed.). MIT Press. http://incompleteideas.net/book/the-book-2nd.html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Auer, P., Cesa-Bianchi, N., &amp; Fischer, P. (2002). Finite-time analysis of the multiarmed bandit problem. Machine Learning, 47(2–3), 235–256.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Usamos la notación de Sutton y Barto. Russell y Norvig llaman </a:t>
            </a:r>
            <a:r>
              <a:rPr sz="1300" b="1">
                <a:solidFill>
                  <a:srgbClr val="666666"/>
                </a:solidFill>
                <a:latin typeface="Roboto"/>
              </a:rPr>
              <a:t>utilidad</a:t>
            </a:r>
            <a:r>
              <a:rPr sz="1300" b="0">
                <a:solidFill>
                  <a:srgbClr val="666666"/>
                </a:solidFill>
                <a:latin typeface="Roboto"/>
              </a:rPr>
              <a:t> al valor de un estado y escriben el modelo por separado: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Uπ(s) y U(s) en Russell y Norvig son vπ(s) y v*(s).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Q(s, a) en Russell y Norvig es q*(s, a).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P(s′ | s, a) y R(s, a, s′) en Russell y Norvig son la dinámica p(s′, r | s, a).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Las mayúsculas V y Q son estimaciones que el agente va aprendiendo.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9184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Excepción: Sutton y Barto no tratan la teoría de la utilidad. En la sección de decisiones bajo incertidumbre, U es la utilidad de un resultado, como en Russell y Norvig.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bajo incertidumbre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búsqueda, cada acción tenía un resultado seguro. Ahora la misma acción puede llevar a resultados distintos, cada uno con cierta probabilidad.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Para decidir hace falta una </a:t>
            </a:r>
            <a:r>
              <a:rPr sz="1300" b="1">
                <a:solidFill>
                  <a:srgbClr val="666666"/>
                </a:solidFill>
                <a:latin typeface="Roboto"/>
              </a:rPr>
              <a:t>utilidad</a:t>
            </a:r>
            <a:r>
              <a:rPr sz="1300" b="0">
                <a:solidFill>
                  <a:srgbClr val="666666"/>
                </a:solidFill>
                <a:latin typeface="Roboto"/>
              </a:rPr>
              <a:t> U(s), que mide qué tan deseable es cada resultado, y la probabilidad p(s′ | a) de cada resultado.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15595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Utilidad esperada de una acción:</a:t>
            </a:r>
          </a:p>
        </p:txBody>
      </p:sp>
      <p:pic>
        <p:nvPicPr>
          <p:cNvPr id="5" name="Picture 4" descr="ac9dc47a7e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37" y="2606040"/>
            <a:ext cx="2336924" cy="498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233051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Principio de </a:t>
            </a:r>
            <a:r>
              <a:rPr sz="1300" b="1">
                <a:solidFill>
                  <a:srgbClr val="666666"/>
                </a:solidFill>
                <a:latin typeface="Roboto"/>
              </a:rPr>
              <a:t>máxima utilidad esperada</a:t>
            </a:r>
            <a:r>
              <a:rPr sz="1300" b="0">
                <a:solidFill>
                  <a:srgbClr val="666666"/>
                </a:solidFill>
                <a:latin typeface="Roboto"/>
              </a:rPr>
              <a:t> (MEU): un agente racional elige</a:t>
            </a:r>
          </a:p>
        </p:txBody>
      </p:sp>
      <p:pic>
        <p:nvPicPr>
          <p:cNvPr id="7" name="Picture 6" descr="40cbb40e2b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946" y="3683139"/>
            <a:ext cx="1768106" cy="32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dos apuestas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A:</a:t>
            </a:r>
            <a:r>
              <a:rPr sz="1300" b="0">
                <a:solidFill>
                  <a:srgbClr val="666666"/>
                </a:solidFill>
                <a:latin typeface="Roboto"/>
              </a:rPr>
              <a:t> recibir 50 pesos seguros.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B:</a:t>
            </a:r>
            <a:r>
              <a:rPr sz="1300" b="0">
                <a:solidFill>
                  <a:srgbClr val="666666"/>
                </a:solidFill>
                <a:latin typeface="Roboto"/>
              </a:rPr>
              <a:t> tirar una moneda; si sale cara se reciben 120 pesos, si sale ceca, nada.</a:t>
            </a:r>
          </a:p>
        </p:txBody>
      </p:sp>
      <p:pic>
        <p:nvPicPr>
          <p:cNvPr id="4" name="Picture 3" descr="c8ceee9d6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57" y="1796287"/>
            <a:ext cx="4257885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159638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el dinero como utilidad, conviene B. Eso no quiere decir que B gane siempre: quiere decir que, jugando muchas veces, </a:t>
            </a:r>
            <a:r>
              <a:rPr sz="1300" b="1">
                <a:solidFill>
                  <a:srgbClr val="666666"/>
                </a:solidFill>
                <a:latin typeface="Roboto"/>
              </a:rPr>
              <a:t>en promedio</a:t>
            </a:r>
            <a:r>
              <a:rPr sz="1300" b="0">
                <a:solidFill>
                  <a:srgbClr val="666666"/>
                </a:solidFill>
                <a:latin typeface="Roboto"/>
              </a:rPr>
              <a:t> rinde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71270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utilidad no tiene por qué ser el dinero: expresa las preferencias del agente. Quien necesita sí o sí 50 pesos hoy puede preferir A sin ser irracional.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Tragamonedas: el valor de una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Hay k máquinas. Cada una paga una recompensa aleatoria, con una media propia que el agente </a:t>
            </a:r>
            <a:r>
              <a:rPr sz="1300" b="1">
                <a:solidFill>
                  <a:srgbClr val="666666"/>
                </a:solidFill>
                <a:latin typeface="Roboto"/>
              </a:rPr>
              <a:t>no conoce</a:t>
            </a:r>
            <a:r>
              <a:rPr sz="1300" b="0">
                <a:solidFill>
                  <a:srgbClr val="666666"/>
                </a:solidFill>
                <a:latin typeface="Roboto"/>
              </a:rPr>
              <a:t>. Sin las probabilidades no se puede calcular la utilidad esperada: hay que estimarla jugando.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valor estimado de una acción es el promedio de las recompensas que dio:</a:t>
            </a:r>
          </a:p>
        </p:txBody>
      </p:sp>
      <p:pic>
        <p:nvPicPr>
          <p:cNvPr id="5" name="Picture 4" descr="ac396be25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984" y="2357120"/>
            <a:ext cx="4090031" cy="479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964741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puede actualizar en forma incremental, sin guardar todas las recompensas:</a:t>
            </a:r>
          </a:p>
        </p:txBody>
      </p:sp>
      <p:pic>
        <p:nvPicPr>
          <p:cNvPr id="7" name="Picture 6" descr="63c7f14df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941" y="3414829"/>
            <a:ext cx="2326117" cy="4328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975659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Es la forma que se repite en toda la unidad: nueva ← vieja + paso · [objetivo − vieja]. TD, Q-learning y DQN cambian solo el objetivo.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y explotación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Explotar:</a:t>
            </a:r>
            <a:r>
              <a:rPr sz="1300" b="0">
                <a:solidFill>
                  <a:srgbClr val="666666"/>
                </a:solidFill>
                <a:latin typeface="Roboto"/>
              </a:rPr>
              <a:t> elegir la acción que hoy parece mejor (la acción greedy).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Explorar:</a:t>
            </a:r>
            <a:r>
              <a:rPr sz="1300" b="0">
                <a:solidFill>
                  <a:srgbClr val="666666"/>
                </a:solidFill>
                <a:latin typeface="Roboto"/>
              </a:rPr>
              <a:t> probar otras acciones para estimar mejor su valor.</a:t>
            </a:r>
          </a:p>
        </p:txBody>
      </p:sp>
      <p:pic>
        <p:nvPicPr>
          <p:cNvPr id="4" name="Picture 3" descr="fe7466890f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26" y="1796287"/>
            <a:ext cx="1703146" cy="323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247886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política greedy puede quedarse para siempre en una máquina que no es la mejor, porque nunca vuelve a probar las otras. La política </a:t>
            </a:r>
            <a:r>
              <a:rPr sz="1300" b="1">
                <a:solidFill>
                  <a:srgbClr val="666666"/>
                </a:solidFill>
                <a:latin typeface="Roboto"/>
              </a:rPr>
              <a:t>ε-greedy</a:t>
            </a:r>
            <a:r>
              <a:rPr sz="1300" b="0">
                <a:solidFill>
                  <a:srgbClr val="666666"/>
                </a:solidFill>
                <a:latin typeface="Roboto"/>
              </a:rPr>
              <a:t> explora una fracción ε de las veces:</a:t>
            </a:r>
          </a:p>
        </p:txBody>
      </p:sp>
      <p:pic>
        <p:nvPicPr>
          <p:cNvPr id="6" name="Picture 5" descr="d6fe960fc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228" y="2896094"/>
            <a:ext cx="4385542" cy="627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UCB: explorar lo que menos se conoce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UCB (Upper Confidence Bound) no explora al azar: suma a cada valor estimado un término que premia a las acciones poco probadas.</a:t>
            </a:r>
          </a:p>
        </p:txBody>
      </p:sp>
      <p:pic>
        <p:nvPicPr>
          <p:cNvPr id="4" name="Picture 3" descr="e3a154edb5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743" y="1745488"/>
            <a:ext cx="2982513" cy="647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520943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Qₜ(a) premia a las acciones que parecen buenas.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raíz crece con el tiempo t y baja con las veces Nₜ(a) que se eligió la acción: premia a las acciones poco probadas.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 regula cuánto se explora.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630415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Una acción que casi no se probó tiene una estimación incierta: puede ser mejor de lo que parece.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con 10 máquinas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Promedio de 2000 problemas de 10 máquinas. Greedy se estanca y elige la mejor máquina solo un 35 % de las veces; ε-greedy y UCB siguen mejorando.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acción greedy suele ser la que tuvo suerte en las primeras jugadas: elegir el máximo favorece a las estimaciones que salieron altas por azar.</a:t>
            </a:r>
          </a:p>
        </p:txBody>
      </p:sp>
      <p:pic>
        <p:nvPicPr>
          <p:cNvPr id="5" name="Picture 4" descr="tragamone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22" y="2290064"/>
            <a:ext cx="5620354" cy="2327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secuenciales: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116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Ahora cada acción lleva a un nuevo estado, y desde ahí hay que volver a decidir.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agente empieza en S y el juego termina en +1 o en −1. Las acciones </a:t>
            </a:r>
            <a:r>
              <a:rPr sz="1300" b="1">
                <a:solidFill>
                  <a:srgbClr val="666666"/>
                </a:solidFill>
                <a:latin typeface="Roboto"/>
              </a:rPr>
              <a:t>no son confiables</a:t>
            </a:r>
            <a:r>
              <a:rPr sz="1300" b="0">
                <a:solidFill>
                  <a:srgbClr val="666666"/>
                </a:solidFill>
                <a:latin typeface="Roboto"/>
              </a:rPr>
              <a:t>: van hacia donde se eligió con probabilidad 0.8, y hacia cada costado con 0.1.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54072"/>
            <a:ext cx="502920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plan ↑ ↑ → → → solo sale bien si las cinco acciones salen bien:</a:t>
            </a:r>
          </a:p>
        </p:txBody>
      </p:sp>
      <p:pic>
        <p:nvPicPr>
          <p:cNvPr id="5" name="Picture 4" descr="3d0a27c5f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14" y="3002280"/>
            <a:ext cx="987931" cy="208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338956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Un plan fijo no alcanza: cuando una acción falla, el agente queda en un estado que el plan no previó.</a:t>
            </a:r>
          </a:p>
        </p:txBody>
      </p:sp>
      <p:pic>
        <p:nvPicPr>
          <p:cNvPr id="7" name="Picture 6" descr="mundo-4x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53213"/>
            <a:ext cx="3108960" cy="1408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</a:t>
            </a:r>
            <a:r>
              <a:rPr sz="1300" b="0">
                <a:solidFill>
                  <a:srgbClr val="666666"/>
                </a:solidFill>
                <a:latin typeface="Roboto"/>
              </a:rPr>
              <a:t> dice qué hacer en </a:t>
            </a:r>
            <a:r>
              <a:rPr sz="1300" b="1">
                <a:solidFill>
                  <a:srgbClr val="666666"/>
                </a:solidFill>
                <a:latin typeface="Roboto"/>
              </a:rPr>
              <a:t>cada estado</a:t>
            </a:r>
            <a:r>
              <a:rPr sz="1300" b="0">
                <a:solidFill>
                  <a:srgbClr val="666666"/>
                </a:solidFill>
                <a:latin typeface="Roboto"/>
              </a:rPr>
              <a:t> al que se pueda llegar. Si una acción sale mal, el agente consulta la política en el estado donde quedó.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Determinista: una acción por estado.</a:t>
            </a:r>
          </a:p>
        </p:txBody>
      </p:sp>
      <p:pic>
        <p:nvPicPr>
          <p:cNvPr id="5" name="Picture 4" descr="5830ca159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252" y="2357120"/>
            <a:ext cx="767655" cy="235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72047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Estocástica: una probabilidad para cada acción.</a:t>
            </a:r>
          </a:p>
        </p:txBody>
      </p:sp>
      <p:pic>
        <p:nvPicPr>
          <p:cNvPr id="7" name="Picture 6" descr="fe73d1f67c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986" y="3170558"/>
            <a:ext cx="2524187" cy="2353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533908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figura es la política óptima del mundo 4×3 cuando cada paso cuesta 0.04. Desde (3,1) da toda la vuelta para no arriesgarse a caer en −1.</a:t>
            </a:r>
          </a:p>
        </p:txBody>
      </p:sp>
      <p:pic>
        <p:nvPicPr>
          <p:cNvPr id="9" name="Picture 8" descr="politica-4x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97533"/>
            <a:ext cx="2926080" cy="23199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política depende de la recompensa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Políticas óptimas del mundo 4×3 para cuatro valores de la recompensa por paso r. Cuanto más cuesta vivir, más riesgo acepta el agente para terminar rápido.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−2: desde (3,2) se tira al −1, que cuesta menos que seguir caminando.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−0.6: toma el camino corto, aunque pase al lado del −1.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−0.04: da la vuelta segura.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= −0.01: evita el −1 a toda costa; desde (4,1) choca contra la pared.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9184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r &gt; 0 vivir conviene: el agente evita las dos salidas para siempre.</a:t>
            </a:r>
          </a:p>
        </p:txBody>
      </p:sp>
      <p:pic>
        <p:nvPicPr>
          <p:cNvPr id="6" name="Picture 5" descr="mundo4x3-poli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22" y="3267456"/>
            <a:ext cx="5978155" cy="13502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Recompensas y retorno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Después de cada acción el agente recibe una recompensa. La utilidad de una secuencia es el </a:t>
            </a:r>
            <a:r>
              <a:rPr sz="1300" b="1">
                <a:solidFill>
                  <a:srgbClr val="666666"/>
                </a:solidFill>
                <a:latin typeface="Roboto"/>
              </a:rPr>
              <a:t>retorno</a:t>
            </a:r>
            <a:r>
              <a:rPr sz="1300" b="0">
                <a:solidFill>
                  <a:srgbClr val="666666"/>
                </a:solidFill>
                <a:latin typeface="Roboto"/>
              </a:rPr>
              <a:t>: la suma de las recompensas futuras, descontadas.</a:t>
            </a:r>
          </a:p>
        </p:txBody>
      </p:sp>
      <p:pic>
        <p:nvPicPr>
          <p:cNvPr id="4" name="Picture 3" descr="735ea7335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3608"/>
            <a:ext cx="4846320" cy="505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577093"/>
            <a:ext cx="5029200" cy="16123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</a:t>
            </a:r>
            <a:r>
              <a:rPr sz="1300" b="1">
                <a:solidFill>
                  <a:srgbClr val="666666"/>
                </a:solidFill>
                <a:latin typeface="Roboto"/>
              </a:rPr>
              <a:t>factor de descuento</a:t>
            </a:r>
            <a:r>
              <a:rPr sz="1300" b="0">
                <a:solidFill>
                  <a:srgbClr val="666666"/>
                </a:solidFill>
                <a:latin typeface="Roboto"/>
              </a:rPr>
              <a:t> γ ∈ [0, 1] indica cuánto valen las recompensas futuras frente a las inmediatas.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Tareas episódicas</a:t>
            </a:r>
            <a:r>
              <a:rPr sz="1300" b="0">
                <a:solidFill>
                  <a:srgbClr val="666666"/>
                </a:solidFill>
                <a:latin typeface="Roboto"/>
              </a:rPr>
              <a:t> (terminan siempre): se puede usar γ = 1.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Tareas continuas</a:t>
            </a:r>
            <a:r>
              <a:rPr sz="1300" b="0">
                <a:solidFill>
                  <a:srgbClr val="666666"/>
                </a:solidFill>
                <a:latin typeface="Roboto"/>
              </a:rPr>
              <a:t> (no terminan): hace falta γ &lt; 1 para que la suma sea finita. Si todas las recompensas valen R, el retorno es R / (1 − γ).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80925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γ cerca de 0 el agente es miope; con γ cerca de 1, previsor. Mira unos 1 / (1 − γ) pasos: con γ = 0.9, unos 10.</a:t>
            </a:r>
          </a:p>
        </p:txBody>
      </p:sp>
      <p:pic>
        <p:nvPicPr>
          <p:cNvPr id="7" name="Picture 6" descr="descu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34720"/>
            <a:ext cx="3291840" cy="18455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el retorno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paso da −0.04 y entrar en una salida da +1 o −1. Tres episodios desde (1,1):</a:t>
            </a:r>
          </a:p>
        </p:txBody>
      </p:sp>
      <p:pic>
        <p:nvPicPr>
          <p:cNvPr id="4" name="Picture 3" descr="2ce617fdc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513" y="1547367"/>
            <a:ext cx="5350973" cy="1027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703019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γ &lt; 1 el camino largo pierde más: tardar cuesta.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16531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Como las acciones fallan al azar, la misma política da episodios distintos y el retorno es aleatorio. Por eso una política se evalúa por su retorno </a:t>
            </a:r>
            <a:r>
              <a:rPr sz="1200" b="1">
                <a:solidFill>
                  <a:srgbClr val="38761D"/>
                </a:solidFill>
                <a:latin typeface="Roboto"/>
              </a:rPr>
              <a:t>esperado</a:t>
            </a:r>
            <a:r>
              <a:rPr sz="1200" b="0">
                <a:solidFill>
                  <a:srgbClr val="38761D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Procesos de decisión de Markov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</a:t>
            </a:r>
            <a:r>
              <a:rPr sz="1300" b="1">
                <a:solidFill>
                  <a:srgbClr val="666666"/>
                </a:solidFill>
                <a:latin typeface="Roboto"/>
              </a:rPr>
              <a:t>MDP</a:t>
            </a:r>
            <a:r>
              <a:rPr sz="1300" b="0">
                <a:solidFill>
                  <a:srgbClr val="666666"/>
                </a:solidFill>
                <a:latin typeface="Roboto"/>
              </a:rPr>
              <a:t> queda definido por los estados, las acciones, el factor de descuento γ y la </a:t>
            </a:r>
            <a:r>
              <a:rPr sz="1300" b="1">
                <a:solidFill>
                  <a:srgbClr val="666666"/>
                </a:solidFill>
                <a:latin typeface="Roboto"/>
              </a:rPr>
              <a:t>dinámica</a:t>
            </a:r>
            <a:r>
              <a:rPr sz="1300" b="0">
                <a:solidFill>
                  <a:srgbClr val="666666"/>
                </a:solidFill>
                <a:latin typeface="Roboto"/>
              </a:rPr>
              <a:t>: la probabilidad de cada próximo estado y recompensa.</a:t>
            </a:r>
          </a:p>
        </p:txBody>
      </p:sp>
      <p:pic>
        <p:nvPicPr>
          <p:cNvPr id="4" name="Picture 3" descr="5bf63c9ab0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90" y="1745488"/>
            <a:ext cx="4893218" cy="2454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118995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Propiedad de Markov:</a:t>
            </a:r>
            <a:r>
              <a:rPr sz="1300" b="0">
                <a:solidFill>
                  <a:srgbClr val="666666"/>
                </a:solidFill>
                <a:latin typeface="Roboto"/>
              </a:rPr>
              <a:t> el próximo estado y la recompensa dependen solo del estado y la acción actuales, no de toda la historia.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30627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Las tragamonedas son un MDP con un único estado.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Valor de estado:</a:t>
            </a:r>
            <a:r>
              <a:rPr sz="1300" b="0">
                <a:solidFill>
                  <a:srgbClr val="666666"/>
                </a:solidFill>
                <a:latin typeface="Roboto"/>
              </a:rPr>
              <a:t> el retorno esperado desde s, siguiendo la política π.</a:t>
            </a:r>
          </a:p>
        </p:txBody>
      </p:sp>
      <p:pic>
        <p:nvPicPr>
          <p:cNvPr id="4" name="Picture 3" descr="8868c50ca5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561" y="1547367"/>
            <a:ext cx="2054877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10718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Valor de acción: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retorno esperado si en s se toma a, y después se sigue π.</a:t>
            </a:r>
          </a:p>
        </p:txBody>
      </p:sp>
      <p:pic>
        <p:nvPicPr>
          <p:cNvPr id="6" name="Picture 5" descr="da74260a23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85" y="2360806"/>
            <a:ext cx="2906628" cy="235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724156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relacionan en los dos sentidos:</a:t>
            </a:r>
          </a:p>
        </p:txBody>
      </p:sp>
      <p:pic>
        <p:nvPicPr>
          <p:cNvPr id="8" name="Picture 7" descr="f830f11cf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691" y="3174244"/>
            <a:ext cx="6100617" cy="525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827967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primera promedia sobre lo que elige la política; la segunda, sobre lo que responde el entorno.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Ecuación de Bellman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Reemplazando q por su expresión, el valor de un estado queda en función de los valores de los estados que le siguen:</a:t>
            </a:r>
          </a:p>
        </p:txBody>
      </p:sp>
      <p:pic>
        <p:nvPicPr>
          <p:cNvPr id="4" name="Picture 3" descr="6f2746bc1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81" y="1745488"/>
            <a:ext cx="4188436" cy="525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399211"/>
            <a:ext cx="8321040" cy="8199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π(a | s): cuánto elige la política cada acción.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p(s′, r | s, a): cómo responde el entorno.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 + γ v(s′): la recompensa inmediata más el valor descontado de donde se llega.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10563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Es un sistema de ecuaciones </a:t>
            </a:r>
            <a:r>
              <a:rPr sz="1200" b="1">
                <a:solidFill>
                  <a:srgbClr val="38761D"/>
                </a:solidFill>
                <a:latin typeface="Roboto"/>
              </a:rPr>
              <a:t>lineales</a:t>
            </a:r>
            <a:r>
              <a:rPr sz="1200" b="0">
                <a:solidFill>
                  <a:srgbClr val="38761D"/>
                </a:solidFill>
                <a:latin typeface="Roboto"/>
              </a:rPr>
              <a:t>, una por estado: v = r + γPv, o sea (I − γP) v = r. Para una política fija se puede resolver directo.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Ecuación de optimalidad de Bellman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</a:t>
            </a:r>
            <a:r>
              <a:rPr sz="1300" b="1">
                <a:solidFill>
                  <a:srgbClr val="666666"/>
                </a:solidFill>
                <a:latin typeface="Roboto"/>
              </a:rPr>
              <a:t>política óptima</a:t>
            </a:r>
            <a:r>
              <a:rPr sz="1300" b="0">
                <a:solidFill>
                  <a:srgbClr val="666666"/>
                </a:solidFill>
                <a:latin typeface="Roboto"/>
              </a:rPr>
              <a:t> π* obtiene el mayor valor en todos los estados. Sus valores cumplen la misma ecuación, pero tomando la mejor acción en lugar de promediar:</a:t>
            </a:r>
          </a:p>
        </p:txBody>
      </p:sp>
      <p:pic>
        <p:nvPicPr>
          <p:cNvPr id="4" name="Picture 3" descr="002390423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39" y="1745488"/>
            <a:ext cx="3574520" cy="525707"/>
          </a:xfrm>
          <a:prstGeom prst="rect">
            <a:avLst/>
          </a:prstGeom>
        </p:spPr>
      </p:pic>
      <p:pic>
        <p:nvPicPr>
          <p:cNvPr id="5" name="Picture 4" descr="5659b0ca61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783" y="2435787"/>
            <a:ext cx="4072432" cy="545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109117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Conociendo q*, la política óptima sale directo:</a:t>
            </a:r>
          </a:p>
        </p:txBody>
      </p:sp>
      <p:pic>
        <p:nvPicPr>
          <p:cNvPr id="7" name="Picture 6" descr="b95431484f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941" y="3559205"/>
            <a:ext cx="2066117" cy="323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010803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Por el máximo, el sistema deja de ser lineal y no se resuelve directo: hay que iterar. Con q* se elige la acción sin conocer el modelo del mundo.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Diagramas de 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Las cuatro ecuaciones se pueden dibujar. Los círculos vacíos son estados y los llenos, pares estado–acción. El valor </a:t>
            </a:r>
            <a:r>
              <a:rPr sz="1300" b="1">
                <a:solidFill>
                  <a:srgbClr val="666666"/>
                </a:solidFill>
                <a:latin typeface="Roboto"/>
              </a:rPr>
              <a:t>sube</a:t>
            </a:r>
            <a:r>
              <a:rPr sz="1300" b="0">
                <a:solidFill>
                  <a:srgbClr val="666666"/>
                </a:solidFill>
                <a:latin typeface="Roboto"/>
              </a:rPr>
              <a:t> desde las hojas hasta la raíz.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vπ y qπ se </a:t>
            </a:r>
            <a:r>
              <a:rPr sz="1300" b="1">
                <a:solidFill>
                  <a:srgbClr val="666666"/>
                </a:solidFill>
                <a:latin typeface="Roboto"/>
              </a:rPr>
              <a:t>promedia</a:t>
            </a:r>
            <a:r>
              <a:rPr sz="1300" b="0">
                <a:solidFill>
                  <a:srgbClr val="666666"/>
                </a:solidFill>
                <a:latin typeface="Roboto"/>
              </a:rPr>
              <a:t>: según π al elegir la acción y según p al ver qué responde el entorno.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v* y q* la elección de la acción toma el </a:t>
            </a:r>
            <a:r>
              <a:rPr sz="1300" b="1">
                <a:solidFill>
                  <a:srgbClr val="666666"/>
                </a:solidFill>
                <a:latin typeface="Roboto"/>
              </a:rPr>
              <a:t>máximo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</p:txBody>
      </p:sp>
      <p:pic>
        <p:nvPicPr>
          <p:cNvPr id="5" name="Picture 4" descr="diagramas-respal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371344"/>
            <a:ext cx="7315200" cy="19599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Iteración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Calcula v* cuando se conocen las probabilidades de transición y las recompensas.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Inicializar v₀(s) = 0 para todos los estados.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Para cada estado, aplicar la actualización de Bellman:</a:t>
            </a:r>
          </a:p>
        </p:txBody>
      </p:sp>
      <p:pic>
        <p:nvPicPr>
          <p:cNvPr id="5" name="Picture 4" descr="314b81f40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19" y="2209800"/>
            <a:ext cx="3785760" cy="525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863523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Repetir hasta que los valores casi no cambien.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política óptima es la acción que alcanza el máximo en cada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25955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Necesita el modelo completo y recorrer todos los estados en cada iteración. La iteración de políticas alterna dos pasos: evaluar la política y mejorarla.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iteración de valores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Costo por paso 0.04 y γ = 1. El +1 se propaga desde la salida, una casilla por iteración. La flecha es la acción que da el máximo; el punto, un empate.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En la iteración 1, (3,2) elige chocar contra la pared para no arriesgarse a caer en −1. Al converger queda la política que vimos antes.</a:t>
            </a:r>
          </a:p>
        </p:txBody>
      </p:sp>
      <p:pic>
        <p:nvPicPr>
          <p:cNvPr id="5" name="Picture 4" descr="valores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290064"/>
            <a:ext cx="8229600" cy="22929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el problema del apostador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2161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 jugador apuesta a cara o ceca. Si sale cara (probabilidad 0.4) gana lo que apostó; si sale ceca, lo pierde. Termina al llegar a 100 o al quedarse sin nada.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Estado: el capital s. Acción: cuánto apostar, de 1 a min(s, 100 − s). Recompensa: +1 al llegar a 100.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valor de cada estado es la probabilidad de ganar.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04872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ejemplo 4.3. A la izquierda, los valores; a la derecha, la política.</a:t>
            </a:r>
          </a:p>
        </p:txBody>
      </p:sp>
      <p:pic>
        <p:nvPicPr>
          <p:cNvPr id="5" name="Picture 4" descr="apost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24" y="2803144"/>
            <a:ext cx="3629151" cy="1814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
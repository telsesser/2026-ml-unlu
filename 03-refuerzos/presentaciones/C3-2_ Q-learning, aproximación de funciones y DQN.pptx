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1b7713da_1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1b7713d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42fa1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742fa1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42fa1e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6742fa1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7ae16a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667ae16a20_1_19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8" name="Google Shape;68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7" name="Google Shape;77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1" name="Google Shape;121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466075" y="2800950"/>
            <a:ext cx="2428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66075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Q-learning, aproximación de funciones y DQN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Outline de la presentaci</a:t>
            </a:r>
            <a:r>
              <a:rPr lang="es" sz="2520">
                <a:solidFill>
                  <a:srgbClr val="1C4587"/>
                </a:solidFill>
              </a:rPr>
              <a:t>ón</a:t>
            </a:r>
            <a:endParaRPr sz="2520">
              <a:solidFill>
                <a:srgbClr val="1C4587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23550" y="1081175"/>
            <a:ext cx="8405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Aprender sin modelo del mundo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Diferencias temporales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Q-learning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Exploración decreciente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Aproximación de funciones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Cuando los estados no entran en una tabla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Aprender como un problema de regresión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Redes neuronales como aproximador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DQN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Inestabilidad y tríada mortal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Memoria de repetición y red objetivo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Algoritmo y resultados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Repaso: iteración de valores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1097280"/>
            <a:ext cx="502920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el mundo 4×3 encontramos la política óptima aplicando una y otra vez la ecuación de optimalidad de Bellman:</a:t>
            </a:r>
          </a:p>
        </p:txBody>
      </p:sp>
      <p:pic>
        <p:nvPicPr>
          <p:cNvPr id="149" name="Picture 148" descr="314b81f40f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199" y="1745488"/>
            <a:ext cx="3785760" cy="525707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11480" y="2399211"/>
            <a:ext cx="5029200" cy="116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Para hacer la cuenta hace falta el </a:t>
            </a:r>
            <a:r>
              <a:rPr sz="1300" b="1">
                <a:solidFill>
                  <a:srgbClr val="666666"/>
                </a:solidFill>
                <a:latin typeface="Roboto"/>
              </a:rPr>
              <a:t>modelo</a:t>
            </a:r>
            <a:r>
              <a:rPr sz="1300" b="0">
                <a:solidFill>
                  <a:srgbClr val="666666"/>
                </a:solidFill>
                <a:latin typeface="Roboto"/>
              </a:rPr>
              <a:t>: la dinámica p(s′, r | s, a). En el 4×3, que las acciones salen bien con probabilidad 0.8 y que cada paso cuesta 0.04.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¿Se puede llegar a la misma política sin conocer el modelo, solo jugando?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1480" y="3656003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Los valores de la iteración de valores sirven de referencia para medir lo que aprenden los métodos sin modelo.</a:t>
            </a:r>
          </a:p>
        </p:txBody>
      </p:sp>
      <p:pic>
        <p:nvPicPr>
          <p:cNvPr id="152" name="Picture 151" descr="politica-4x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697533"/>
            <a:ext cx="2926080" cy="23199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152" name="Google Shape;152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153" name="Google Shape;153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4" name="Google Shape;154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5" name="Google Shape;155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45075" y="1236975"/>
            <a:ext cx="7750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Sutton, R. S., &amp; Barto, A. G. (2018). Reinforcement Learning: An Introduction (2nd ed.). MIT Press. http://incompleteideas.net/book/the-book-2nd.html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Russell, S., &amp; Norvig, P. (2021). Artificial Intelligence: A Modern Approach (4th ed., Global ed.). Pearson.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Watkins, C. J. C. H., &amp; Dayan, P. (1992). Q-learning. Machine Learning, 8(3–4), 279–292.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Lin, L.-J. (1992). Self-improving reactive agents based on reinforcement learning, planning and teaching. Machine Learning, 8(3–4), 293–321.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Mnih, V., Kavukcuoglu, K., Silver, D., Graves, A., Antonoglou, I., Wierstra, D., &amp; Riedmiller, M. (2013). Playing Atari with deep reinforcement learning. arXiv:1312.5602.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Mnih, V., Kavukcuoglu, K., Silver, D., Rusu, A. A., Veness, J., Bellemare, M. G., … Hassabis, D. (2015). Human-level control through deep reinforcement learning. Nature, 518(7540), 529–533.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Aprender sin modelo del 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Casi nunca se conocen las probabilidades de transición. Hay que estimar los valores a partir de la </a:t>
            </a:r>
            <a:r>
              <a:rPr sz="1300" b="1">
                <a:solidFill>
                  <a:srgbClr val="666666"/>
                </a:solidFill>
                <a:latin typeface="Roboto"/>
              </a:rPr>
              <a:t>experiencia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Monte Carlo:</a:t>
            </a:r>
            <a:r>
              <a:rPr sz="1300" b="0">
                <a:solidFill>
                  <a:srgbClr val="666666"/>
                </a:solidFill>
                <a:latin typeface="Roboto"/>
              </a:rPr>
              <a:t> promediar los retornos observados. Hay que esperar a que termine el episodio.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666666"/>
                </a:solidFill>
                <a:latin typeface="Roboto"/>
              </a:rPr>
              <a:t>Diferencias temporales (TD):</a:t>
            </a:r>
            <a:r>
              <a:rPr sz="1300" b="0">
                <a:solidFill>
                  <a:srgbClr val="666666"/>
                </a:solidFill>
                <a:latin typeface="Roboto"/>
              </a:rPr>
              <a:t> actualizar en cada paso, usando la estimación del estado siguiente.</a:t>
            </a:r>
          </a:p>
        </p:txBody>
      </p:sp>
      <p:pic>
        <p:nvPicPr>
          <p:cNvPr id="4" name="Picture 3" descr="948241677c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007" y="2243328"/>
            <a:ext cx="4057984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606678"/>
            <a:ext cx="8321040" cy="7691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término entre corchetes es el </a:t>
            </a:r>
            <a:r>
              <a:rPr sz="1300" b="1">
                <a:solidFill>
                  <a:srgbClr val="666666"/>
                </a:solidFill>
                <a:latin typeface="Roboto"/>
              </a:rPr>
              <a:t>error TD</a:t>
            </a:r>
            <a:r>
              <a:rPr sz="1300" b="0">
                <a:solidFill>
                  <a:srgbClr val="666666"/>
                </a:solidFill>
                <a:latin typeface="Roboto"/>
              </a:rPr>
              <a:t>: la diferencia entre lo que se esperaba y lo que se obtuvo más lo que se espera obtener después. α es la tasa de aprendizaje.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Distribuyendo α, es un promedio ponderado entre lo viejo y el objetivo:</a:t>
            </a:r>
          </a:p>
        </p:txBody>
      </p:sp>
      <p:pic>
        <p:nvPicPr>
          <p:cNvPr id="6" name="Picture 5" descr="051c846719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185" y="3503806"/>
            <a:ext cx="3967629" cy="2353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Monte Carlo y TD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Evaluar la política óptima sin conocer el modelo, solo jugando episodios. Los dos arrancan en 0; el error se mide contra los valores de la iteración de valores.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07032"/>
            <a:ext cx="5029200" cy="9164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Acá gana </a:t>
            </a:r>
            <a:r>
              <a:rPr sz="1300" b="1">
                <a:solidFill>
                  <a:srgbClr val="666666"/>
                </a:solidFill>
                <a:latin typeface="Roboto"/>
              </a:rPr>
              <a:t>Monte Carlo</a:t>
            </a:r>
            <a:r>
              <a:rPr sz="1300" b="0">
                <a:solidFill>
                  <a:srgbClr val="666666"/>
                </a:solidFill>
                <a:latin typeface="Roboto"/>
              </a:rPr>
              <a:t>: al terminar el episodio, cada estado del camino recibe el retorno completo. TD propaga el +1 hacia atrás </a:t>
            </a:r>
            <a:r>
              <a:rPr sz="1300" b="1">
                <a:solidFill>
                  <a:srgbClr val="666666"/>
                </a:solidFill>
                <a:latin typeface="Roboto"/>
              </a:rPr>
              <a:t>una casilla por visita</a:t>
            </a:r>
            <a:r>
              <a:rPr sz="1300" b="0">
                <a:solidFill>
                  <a:srgbClr val="666666"/>
                </a:solidFill>
                <a:latin typeface="Roboto"/>
              </a:rPr>
              <a:t>, como la iteración de valores.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914904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ventaja segura de TD es que aprende en cada paso, sin esperar al final: sirve con episodios muy largos y en tareas que no terminan.</a:t>
            </a:r>
          </a:p>
        </p:txBody>
      </p:sp>
      <p:pic>
        <p:nvPicPr>
          <p:cNvPr id="6" name="Picture 5" descr="mc-td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570042"/>
            <a:ext cx="3474720" cy="2574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Aplica la idea de TD a los valores de acción, usando la ecuación de optimalidad (Watkins, 1989):</a:t>
            </a:r>
          </a:p>
        </p:txBody>
      </p:sp>
      <p:pic>
        <p:nvPicPr>
          <p:cNvPr id="4" name="Picture 3" descr="b702489dea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214" y="1547367"/>
            <a:ext cx="5653571" cy="4020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077410"/>
            <a:ext cx="8321040" cy="10180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No necesita modelo del mundo: aprende de las transiciones que vive.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Es </a:t>
            </a:r>
            <a:r>
              <a:rPr sz="1300" b="1">
                <a:solidFill>
                  <a:srgbClr val="666666"/>
                </a:solidFill>
                <a:latin typeface="Roboto"/>
              </a:rPr>
              <a:t>off-policy</a:t>
            </a:r>
            <a:r>
              <a:rPr sz="1300" b="0">
                <a:solidFill>
                  <a:srgbClr val="666666"/>
                </a:solidFill>
                <a:latin typeface="Roboto"/>
              </a:rPr>
              <a:t>: elige las acciones con ε-greedy, pero aprende los valores de la política greedy, es decir, q*.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Converge a q* si todas las acciones se siguen probando en todos los estados.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86882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Con la tabla Q aprendida, la política es elegir en cada estado la acción de mayor Q.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Q-learning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21742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Parámetros: α ∈ (0, 1], ε &gt; 0, γ ∈ [0, 1]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Inicializar Q(s, a) = 0 para todo s, a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Para cada episodio: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Inicializar 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Repetir para cada paso del episodio: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Elegir A desde S con ε-greedy sobre Q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Ejecutar A, observar R y S′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Q(S, A) ← Q(S, A) + α [R + γ maxₐ Q(S′, a) − Q(S, A)]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    S ← S′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434343"/>
                </a:solidFill>
                <a:latin typeface="Roboto Mono"/>
              </a:rPr>
              <a:t>    hasta que S sea terminal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362960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sección 6.5. Si S′ es terminal, su valor es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Q-learning en el mundo 4×3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Sin conocer el modelo ni recibir una política, Q-learning aprende jugando: 2000 episodios desde (1,1), con α = 0.2 y ε = 0.2. Acierta la acción óptima en 8 de las 9 casillas.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Falla en (3,2): ← (0.48) le gana a ↑ (0.42). En realidad valen 0.68 y 0.70, casi lo mismo. Subir arriesga caer en −1, y con α fijo cada caída baja mucho la estimación: el ruido alcanza para dar vuelta la elección.</a:t>
            </a:r>
          </a:p>
        </p:txBody>
      </p:sp>
      <p:pic>
        <p:nvPicPr>
          <p:cNvPr id="5" name="Picture 4" descr="qlearning-4x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241" y="2290064"/>
            <a:ext cx="5571517" cy="23276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decreciente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Explorar sirve al principio, cuando el agente no sabe nada, pero molesta al final. Se empieza con un ε alto y se lo reduce con el tiempo, por ejemplo en forma lineal durante los primeros T pasos:</a:t>
            </a:r>
          </a:p>
        </p:txBody>
      </p:sp>
      <p:pic>
        <p:nvPicPr>
          <p:cNvPr id="4" name="Picture 3" descr="5a9ea3b78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74" y="1745488"/>
            <a:ext cx="3227651" cy="50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383404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Con un ε inicial de 1 el agente arranca eligiendo todo al azar.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Termina explorando solo una fracción pequeña de las veces, por ejemplo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45836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En el mundo 4×3 usamos ε = 0.2 fijo: el agente seguía explorando al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Cuando los estados no entran en una tabla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mundo 4×3 tiene 11 estados y el apostador, unos 100.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backgammon tiene alrededor de 10²⁰.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un juego de Atari el estado es la pantalla: 256^(84·84) imágenes posibles.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Si el estado son números reales (posición, velocidad), hay </a:t>
            </a:r>
            <a:r>
              <a:rPr sz="1300" b="1">
                <a:solidFill>
                  <a:srgbClr val="666666"/>
                </a:solidFill>
                <a:latin typeface="Roboto"/>
              </a:rPr>
              <a:t>infinitos</a:t>
            </a:r>
            <a:r>
              <a:rPr sz="1300" b="0">
                <a:solidFill>
                  <a:srgbClr val="666666"/>
                </a:solidFill>
                <a:latin typeface="Roboto"/>
              </a:rPr>
              <a:t> estados.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5755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una tabla aparecen dos problemas: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71064"/>
            <a:ext cx="8321040" cy="7691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Memoria:</a:t>
            </a:r>
            <a:r>
              <a:rPr sz="1300" b="0">
                <a:solidFill>
                  <a:srgbClr val="666666"/>
                </a:solidFill>
                <a:latin typeface="Roboto"/>
              </a:rPr>
              <a:t> no entra.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Generalización: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cada casilla se aprende por separado. Lo aprendido en un estado no sirve para un estado parecido, y la mayoría de los estados no se visitan nunca.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CartPole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Mantener un palo en equilibrio sobre un carrito.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5029200" cy="16631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Estado:</a:t>
            </a:r>
            <a:r>
              <a:rPr sz="1300" b="0">
                <a:solidFill>
                  <a:srgbClr val="666666"/>
                </a:solidFill>
                <a:latin typeface="Roboto"/>
              </a:rPr>
              <a:t> posición y velocidad del carrito, ángulo y velocidad angular del palo. Son 4 números reales.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Acciones:</a:t>
            </a:r>
            <a:r>
              <a:rPr sz="1300" b="0">
                <a:solidFill>
                  <a:srgbClr val="666666"/>
                </a:solidFill>
                <a:latin typeface="Roboto"/>
              </a:rPr>
              <a:t> empujar a la izquierda o a la derecha.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Recompensa:</a:t>
            </a:r>
            <a:r>
              <a:rPr sz="1300" b="0">
                <a:solidFill>
                  <a:srgbClr val="666666"/>
                </a:solidFill>
                <a:latin typeface="Roboto"/>
              </a:rPr>
              <a:t> +1 por cada paso con el palo en pie, hasta 500.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Fin: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palo se inclina más de 12° o el carrito se sale de la pista.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65424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Discretizar (por ejemplo, 6 intervalos por variable: 6⁴ = 1296 estados) funciona a medias: con pocos intervalos se pierde precisión, y con muchos cada estado se visita muy poco.</a:t>
            </a:r>
          </a:p>
        </p:txBody>
      </p:sp>
      <p:pic>
        <p:nvPicPr>
          <p:cNvPr id="6" name="Picture 5" descr="cartp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65352"/>
            <a:ext cx="3017520" cy="15842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Aproximación de funciones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reemplaza la tabla por una función con parámetros </a:t>
            </a:r>
            <a:r>
              <a:rPr sz="1300" b="1">
                <a:solidFill>
                  <a:srgbClr val="666666"/>
                </a:solidFill>
                <a:latin typeface="Roboto"/>
              </a:rPr>
              <a:t>w</a:t>
            </a:r>
            <a:r>
              <a:rPr sz="1300" b="0">
                <a:solidFill>
                  <a:srgbClr val="666666"/>
                </a:solidFill>
                <a:latin typeface="Roboto"/>
              </a:rPr>
              <a:t>:</a:t>
            </a:r>
          </a:p>
        </p:txBody>
      </p:sp>
      <p:pic>
        <p:nvPicPr>
          <p:cNvPr id="4" name="Picture 3" descr="905857571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625" y="1547367"/>
            <a:ext cx="1696748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10718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función tiene muchos menos parámetros que estados. Al ajustar </a:t>
            </a:r>
            <a:r>
              <a:rPr sz="1300" b="1">
                <a:solidFill>
                  <a:srgbClr val="666666"/>
                </a:solidFill>
                <a:latin typeface="Roboto"/>
              </a:rPr>
              <a:t>w</a:t>
            </a:r>
            <a:r>
              <a:rPr sz="1300" b="0">
                <a:solidFill>
                  <a:srgbClr val="666666"/>
                </a:solidFill>
                <a:latin typeface="Roboto"/>
              </a:rPr>
              <a:t> con la experiencia de un estado, cambian también los valores de los estados parecidos: la función </a:t>
            </a:r>
            <a:r>
              <a:rPr sz="1300" b="1">
                <a:solidFill>
                  <a:srgbClr val="666666"/>
                </a:solidFill>
                <a:latin typeface="Roboto"/>
              </a:rPr>
              <a:t>generaliza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22350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tabla es un caso particular: un parámetro por cada par (s, 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Aprender como un problema de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transición (s, a, r, s′) da un </a:t>
            </a:r>
            <a:r>
              <a:rPr sz="1300" b="1">
                <a:solidFill>
                  <a:srgbClr val="666666"/>
                </a:solidFill>
                <a:latin typeface="Roboto"/>
              </a:rPr>
              <a:t>objetivo</a:t>
            </a:r>
            <a:r>
              <a:rPr sz="1300" b="0">
                <a:solidFill>
                  <a:srgbClr val="666666"/>
                </a:solidFill>
                <a:latin typeface="Roboto"/>
              </a:rPr>
              <a:t> para el valor de (s, a):</a:t>
            </a:r>
          </a:p>
        </p:txBody>
      </p:sp>
      <p:pic>
        <p:nvPicPr>
          <p:cNvPr id="4" name="Picture 3" descr="37f9c3556d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299" y="1547367"/>
            <a:ext cx="2173401" cy="342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017843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minimiza el error cuadrático, como en una regresión:</a:t>
            </a:r>
          </a:p>
        </p:txBody>
      </p:sp>
      <p:pic>
        <p:nvPicPr>
          <p:cNvPr id="6" name="Picture 5" descr="9dc5fd4ac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15" y="2467931"/>
            <a:ext cx="2119168" cy="2753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87126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 paso de descenso por el gradiente:</a:t>
            </a:r>
          </a:p>
        </p:txBody>
      </p:sp>
      <p:pic>
        <p:nvPicPr>
          <p:cNvPr id="8" name="Picture 7" descr="438cd2fc05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147" y="3321350"/>
            <a:ext cx="3461705" cy="2353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684700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y también depende de w, pero no se deriva: se lo trata como un dato. Por eso se llama método de semi-gradiente.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 red neuronal como aproximador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DQN la función es una red neuronal: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5029200" cy="7691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Entrada:</a:t>
            </a:r>
            <a:r>
              <a:rPr sz="1300" b="0">
                <a:solidFill>
                  <a:srgbClr val="666666"/>
                </a:solidFill>
                <a:latin typeface="Roboto"/>
              </a:rPr>
              <a:t> el estado 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Salida:</a:t>
            </a:r>
            <a:r>
              <a:rPr sz="1300" b="0">
                <a:solidFill>
                  <a:srgbClr val="666666"/>
                </a:solidFill>
                <a:latin typeface="Roboto"/>
              </a:rPr>
              <a:t> un valor por cada acción, q̂(s, a₁), …, q̂(s, aₙ).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71343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una sola pasada se obtienen los valores de todas las acciones: justo lo que hace falta para calcular el máximo del objetivo y para elegir la acción greedy.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81095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Para CartPole alcanza con dos capas ocultas de 128 neuronas: unos 17 mil parámetros.</a:t>
            </a:r>
          </a:p>
        </p:txBody>
      </p:sp>
      <p:pic>
        <p:nvPicPr>
          <p:cNvPr id="7" name="Picture 6" descr="red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97927"/>
            <a:ext cx="3017520" cy="17191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 con una red: por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Si se entrena la red con cada transición a medida que llega, no aprende: en CartPole termina peor que una política al azar. Hay dos causas: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Muestras correlacionadas.</a:t>
            </a:r>
            <a:r>
              <a:rPr sz="1300" b="0">
                <a:solidFill>
                  <a:srgbClr val="666666"/>
                </a:solidFill>
                <a:latin typeface="Roboto"/>
              </a:rPr>
              <a:t> Las transiciones consecutivas son casi iguales. La red se ajusta a la situación del momento y, como generaliza, cambia los valores de todos los demás estados.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Objetivo que se mueve.</a:t>
            </a:r>
            <a:r>
              <a:rPr sz="1300" b="0">
                <a:solidFill>
                  <a:srgbClr val="666666"/>
                </a:solidFill>
                <a:latin typeface="Roboto"/>
              </a:rPr>
              <a:t> y se calcula con la misma red que se entrena: cada paso de gradiente cambia el objetivo.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67583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Ninguno de los dos problemas aparecía con la tabla.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tríada mortal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Sutton y Barto llaman así a tres ingredientes que, juntos, pueden volver inestable el aprendizaje o hacerlo diverger: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8199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Aproximación de funciones.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Bootstrapping:</a:t>
            </a:r>
            <a:r>
              <a:rPr sz="1300" b="0">
                <a:solidFill>
                  <a:srgbClr val="666666"/>
                </a:solidFill>
                <a:latin typeface="Roboto"/>
              </a:rPr>
              <a:t> el objetivo usa estimaciones, como max q̂(s′, a′).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Aprendizaje off-policy.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20264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Q-learning con una red tiene los tres. DQN no elimina la tríada, pero agrega dos ideas que estabilizan mucho el entrenamiento: la memoria de repetición y la red objetivo.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Memoria de repetición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11653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transición (s, a, r, s′) se guarda en una memoria de capacidad fija. Cuando se llena, se descartan las más viejas.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cada paso se entrena con un </a:t>
            </a:r>
            <a:r>
              <a:rPr sz="1300" b="1">
                <a:solidFill>
                  <a:srgbClr val="666666"/>
                </a:solidFill>
                <a:latin typeface="Roboto"/>
              </a:rPr>
              <a:t>minibatch al azar</a:t>
            </a:r>
            <a:r>
              <a:rPr sz="1300" b="0">
                <a:solidFill>
                  <a:srgbClr val="666666"/>
                </a:solidFill>
                <a:latin typeface="Roboto"/>
              </a:rPr>
              <a:t> de la memoria.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354072"/>
            <a:ext cx="502920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Rompe la correlación: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minibatch mezcla momentos distintos.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Reusa la experiencia:</a:t>
            </a:r>
            <a:r>
              <a:rPr sz="1300" b="0">
                <a:solidFill>
                  <a:srgbClr val="666666"/>
                </a:solidFill>
                <a:latin typeface="Roboto"/>
              </a:rPr>
              <a:t> cada transición se usa muchas veces.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12744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Funciona porque Q-learning es off-policy: puede aprender q* de transiciones generadas por versiones viejas del propio agente.</a:t>
            </a:r>
          </a:p>
        </p:txBody>
      </p:sp>
      <p:pic>
        <p:nvPicPr>
          <p:cNvPr id="6" name="Picture 5" descr="mem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59491"/>
            <a:ext cx="3017520" cy="21960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Una copia de la red con pesos </a:t>
            </a:r>
            <a:r>
              <a:rPr sz="1300" b="1">
                <a:solidFill>
                  <a:srgbClr val="666666"/>
                </a:solidFill>
                <a:latin typeface="Roboto"/>
              </a:rPr>
              <a:t>w⁻</a:t>
            </a:r>
            <a:r>
              <a:rPr sz="1300" b="0">
                <a:solidFill>
                  <a:srgbClr val="666666"/>
                </a:solidFill>
                <a:latin typeface="Roboto"/>
              </a:rPr>
              <a:t>, congelada. Cada C pasos se copian los pesos: w⁻ ← w. El objetivo se calcula con esa copia:</a:t>
            </a:r>
          </a:p>
        </p:txBody>
      </p:sp>
      <p:pic>
        <p:nvPicPr>
          <p:cNvPr id="4" name="Picture 3" descr="d96fdf6c55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8" y="1745488"/>
            <a:ext cx="2305782" cy="351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224684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Durante C pasos el objetivo queda fijo, y el problema se parece a una regresión común.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Juntando las dos ideas, DQN minimiza:</a:t>
            </a:r>
          </a:p>
        </p:txBody>
      </p:sp>
      <p:pic>
        <p:nvPicPr>
          <p:cNvPr id="6" name="Picture 5" descr="38e32fac67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50" y="2923692"/>
            <a:ext cx="5251898" cy="5099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828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Inicializar la memoria D (capacidad N), la red q̂ con pesos w al azar y w⁻ = w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Para cada paso: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Elegir a con ε-greedy sobre q̂(s, ·; w)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Ejecutar a, observar r y s′; guardar (s, a, r, s′, terminal) en 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Muestrear un minibatch de D y calcular, para cada transición: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    yⱼ = rⱼ                                 si s′ⱼ es terminal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    yⱼ = rⱼ + γ maxₐ′ q̂(s′ⱼ, a′; w⁻)        si no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Dar un paso de gradiente sobre (yⱼ − q̂(sⱼ, aⱼ; w))²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Cada C pasos: w⁻ ←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017520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Mnih et al. (2015). En la práctica se usa la pérdida de Huber y un ε decreciente, y se empieza a entrenar cuando la memoria ya tiene algunas transiciones.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aporta cada pieza?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DQN en CartPole, 100.000 pasos, tres semillas por variante: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Solo con las dos piezas juntas el agente aprende en las tres semillas. Mnih et al. hicieron el mismo experimento con 5 juegos de Atari: allí cada idea sola ya mejoraba, y las dos juntas mucho más.</a:t>
            </a:r>
          </a:p>
        </p:txBody>
      </p:sp>
      <p:pic>
        <p:nvPicPr>
          <p:cNvPr id="5" name="Picture 4" descr="ab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091943"/>
            <a:ext cx="8229600" cy="179605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DQN en Atari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51587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entrada eran los últimos 4 cuadros de la pantalla, para percibir el movimiento.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Capas convolucionales y una salida por cada botón del joystick.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</a:t>
            </a:r>
            <a:r>
              <a:rPr sz="1300" b="1">
                <a:solidFill>
                  <a:srgbClr val="666666"/>
                </a:solidFill>
                <a:latin typeface="Roboto"/>
              </a:rPr>
              <a:t>misma arquitectura y los mismos hiperparámetros</a:t>
            </a:r>
            <a:r>
              <a:rPr sz="1300" b="0">
                <a:solidFill>
                  <a:srgbClr val="666666"/>
                </a:solidFill>
                <a:latin typeface="Roboto"/>
              </a:rPr>
              <a:t> para 49 juegos distintos.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Unos 50 millones de cuadros por juego: alrededor de 38 días de juego.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Superó a un jugador humano profesional en 22 juegos, y alcanzó al menos el 75 % de su puntaje en 29 de los 46 comparados.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04591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sección 16.5.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
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59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font" Target="fonts/Roboto-regular.fntdata"/><Relationship Id="rId12" Type="http://schemas.openxmlformats.org/officeDocument/2006/relationships/font" Target="fonts/Roboto-bold.fntdata"/><Relationship Id="rId13" Type="http://schemas.openxmlformats.org/officeDocument/2006/relationships/font" Target="fonts/Roboto-italic.fntdata"/><Relationship Id="rId14" Type="http://schemas.openxmlformats.org/officeDocument/2006/relationships/font" Target="fonts/Roboto-boldItalic.fntdata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71b7713da_1_8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f71b7713da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66742fa1e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66742fa1e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6742fa1ef_0_4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66742fa1ef_0_4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667ae16a20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g3667ae16a20_1_19:notes"/>
          <p:cNvSpPr/>
          <p:nvPr>
            <p:ph idx="2" type="sldImg"/>
          </p:nvPr>
        </p:nvSpPr>
        <p:spPr>
          <a:xfrm>
            <a:off x="615661" y="685800"/>
            <a:ext cx="56274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3" name="Google Shape;13;p2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866" y="4568874"/>
            <a:ext cx="459726" cy="51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" y="0"/>
            <a:ext cx="9139139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500"/>
              <a:buFont typeface="Roboto"/>
              <a:buNone/>
              <a:defRPr sz="2500"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1" name="Google Shape;21;p4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8866" y="4568874"/>
            <a:ext cx="459726" cy="51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4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8" name="Google Shape;58;p14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14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14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14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" name="Google Shape;62;p14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3" name="Google Shape;63;p14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1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68" name="Google Shape;68;p1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1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" name="Google Shape;70;p1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1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5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" name="Google Shape;74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16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77" name="Google Shape;77;p16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16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16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6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8" name="Google Shape;88;p17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9" name="Google Shape;89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20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99" name="Google Shape;99;p20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0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0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0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0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20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7" name="Google Shape;107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1" cy="5146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792" y="256399"/>
            <a:ext cx="1024501" cy="114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/>
        </p:nvSpPr>
        <p:spPr>
          <a:xfrm>
            <a:off x="1536675" y="546325"/>
            <a:ext cx="26424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Laboratorio de Ciencia de Datos &amp; Inteligencia Artificial (LICDIA)</a:t>
            </a:r>
            <a:endParaRPr sz="100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84898" y="4082050"/>
            <a:ext cx="741917" cy="78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90375" y="4045975"/>
            <a:ext cx="85725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450" y="4079313"/>
            <a:ext cx="676275" cy="79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2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21" name="Google Shape;121;p2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2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/>
        </p:nvSpPr>
        <p:spPr>
          <a:xfrm>
            <a:off x="466075" y="2800950"/>
            <a:ext cx="24285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Aprendizaje Automático</a:t>
            </a:r>
            <a:endParaRPr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466075" y="1965960"/>
            <a:ext cx="39319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800">
                <a:solidFill>
                  <a:srgbClr val="0B5394"/>
                </a:solidFill>
                <a:latin typeface="Roboto"/>
                <a:ea typeface="Roboto"/>
                <a:cs typeface="Roboto"/>
                <a:sym typeface="Roboto"/>
              </a:rPr>
              <a:t>Aproximación de funciones y DQN</a:t>
            </a:r>
            <a:endParaRPr b="1" sz="1800">
              <a:solidFill>
                <a:srgbClr val="0B539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20">
                <a:solidFill>
                  <a:srgbClr val="1C4587"/>
                </a:solidFill>
              </a:rPr>
              <a:t>Outline de la presentaci</a:t>
            </a:r>
            <a:r>
              <a:rPr lang="es" sz="2520">
                <a:solidFill>
                  <a:srgbClr val="1C4587"/>
                </a:solidFill>
              </a:rPr>
              <a:t>ón</a:t>
            </a:r>
            <a:endParaRPr sz="2520">
              <a:solidFill>
                <a:srgbClr val="1C4587"/>
              </a:solidFill>
            </a:endParaRPr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623550" y="1081175"/>
            <a:ext cx="8405700" cy="354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Repaso: Q-learning y SARSA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On-policy y off-policy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Exploración decreciente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Aproximación de funciones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Cuando los estados no entran en una tabla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Aprender como un problema de regresión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Redes neuronales como aproximador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DQN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Inestabilidad y tríada mortal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Memoria de repetición y red objetivo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lvl="1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Algoritmo y resultados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  <a:p>
            <a:pPr indent="-31115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"/>
              <a:buChar char="-"/>
            </a:pPr>
            <a:r>
              <a:rPr lang="es" sz="1300">
                <a:latin typeface="Roboto"/>
                <a:ea typeface="Roboto"/>
                <a:cs typeface="Roboto"/>
                <a:sym typeface="Roboto"/>
              </a:rPr>
              <a:t>Referencias</a:t>
            </a:r>
            <a:endParaRPr sz="13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r>
              <a:t>Repaso: Q-learning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11480" y="1097280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Q-learning aprende una tabla con un valor para cada par de estado y acción:</a:t>
            </a:r>
          </a:p>
        </p:txBody>
      </p:sp>
      <p:pic>
        <p:nvPicPr>
          <p:cNvPr id="149" name="Picture 148" descr="b702489dea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214" y="1547367"/>
            <a:ext cx="5653571" cy="402026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411480" y="2077410"/>
            <a:ext cx="8321040" cy="8199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Elige las acciones con ε-greedy.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Para el estado siguiente usa la </a:t>
            </a:r>
            <a:r>
              <a:rPr sz="1300" b="1">
                <a:solidFill>
                  <a:srgbClr val="666666"/>
                </a:solidFill>
                <a:latin typeface="Roboto"/>
              </a:rPr>
              <a:t>mejor</a:t>
            </a:r>
            <a:r>
              <a:rPr sz="1300" b="0">
                <a:solidFill>
                  <a:srgbClr val="666666"/>
                </a:solidFill>
                <a:latin typeface="Roboto"/>
              </a:rPr>
              <a:t> acción, aunque después no la tome.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Por eso es </a:t>
            </a:r>
            <a:r>
              <a:rPr sz="1300" b="1">
                <a:solidFill>
                  <a:srgbClr val="666666"/>
                </a:solidFill>
                <a:latin typeface="Roboto"/>
              </a:rPr>
              <a:t>off-policy</a:t>
            </a:r>
            <a:r>
              <a:rPr sz="1300" b="0">
                <a:solidFill>
                  <a:srgbClr val="666666"/>
                </a:solidFill>
                <a:latin typeface="Roboto"/>
              </a:rPr>
              <a:t>: aprende q*, el valor de la política greedy, mientras se mueve con otra política.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Gráfico de Barras en Excel | Excel Para Todos" id="152" name="Google Shape;152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Gráfico de Barras en Excel | Excel Para Todos" id="153" name="Google Shape;153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iagrama de Barras: Concepto y Aplicación | Excel Para Todos" id="154" name="Google Shape;154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Diagrama de Barras: Concepto y Aplicación | Excel Para Todos" id="155" name="Google Shape;155;p28"/>
          <p:cNvSpPr txBox="1"/>
          <p:nvPr/>
        </p:nvSpPr>
        <p:spPr>
          <a:xfrm>
            <a:off x="143608" y="-102394"/>
            <a:ext cx="274200" cy="2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9550" lIns="79125" spcFirstLastPara="1" rIns="79125" wrap="square" tIns="395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8"/>
          <p:cNvSpPr txBox="1"/>
          <p:nvPr>
            <p:ph idx="4294967295"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520">
                <a:solidFill>
                  <a:srgbClr val="1C4587"/>
                </a:solidFill>
                <a:latin typeface="Roboto"/>
                <a:ea typeface="Roboto"/>
                <a:cs typeface="Roboto"/>
                <a:sym typeface="Roboto"/>
              </a:rPr>
              <a:t>Referencias</a:t>
            </a:r>
            <a:endParaRPr sz="2520">
              <a:solidFill>
                <a:srgbClr val="1C458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545075" y="1236975"/>
            <a:ext cx="7750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Sutton, R. S., &amp; Barto, A. G. (2018). Reinforcement Learning: An Introduction (2nd ed.). MIT Press. http://incompleteideas.net/book/the-book-2nd.html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Russell, S., &amp; Norvig, P. (2021). Artificial Intelligence: A Modern Approach (4th ed., Global ed.). Pearson.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Lin, L.-J. (1992). Self-improving reactive agents based on reinforcement learning, planning and teaching. Machine Learning, 8(3–4), 293–321.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Mnih, V., Kavukcuoglu, K., Silver, D., Graves, A., Antonoglou, I., Wierstra, D., &amp; Riedmiller, M. (2013). Playing Atari with deep reinforcement learning. arXiv:1312.5602.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Mnih, V., Kavukcuoglu, K., Silver, D., Rusu, A. A., Veness, J., Bellemare, M. G., … Hassabis, D. (2015). Human-level control through deep reinforcement learning. Nature, 518(7540), 529–533.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s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van Hasselt, H., Guez, A., &amp; Silver, D. (2016). Deep reinforcement learning with double Q-learning. Proceedings of the AAAI Conference on Artificial Intelligence, 30(1).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SARSA: aprender la política que se sigue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Para el estado siguiente usa la acción que el agente </a:t>
            </a:r>
            <a:r>
              <a:rPr sz="1300" b="1">
                <a:solidFill>
                  <a:srgbClr val="666666"/>
                </a:solidFill>
                <a:latin typeface="Roboto"/>
              </a:rPr>
              <a:t>efectivamente va a tomar</a:t>
            </a:r>
            <a:r>
              <a:rPr sz="1300" b="0">
                <a:solidFill>
                  <a:srgbClr val="666666"/>
                </a:solidFill>
                <a:latin typeface="Roboto"/>
              </a:rPr>
              <a:t>:</a:t>
            </a:r>
          </a:p>
        </p:txBody>
      </p:sp>
      <p:pic>
        <p:nvPicPr>
          <p:cNvPr id="4" name="Picture 3" descr="93241063b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670" y="1547367"/>
            <a:ext cx="5490658" cy="2353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910718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El nombre viene de los cinco elementos de cada actualización:</a:t>
            </a:r>
          </a:p>
        </p:txBody>
      </p:sp>
      <p:pic>
        <p:nvPicPr>
          <p:cNvPr id="6" name="Picture 5" descr="42ca9e094d6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823" y="2360806"/>
            <a:ext cx="2426353" cy="2353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2724156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Es </a:t>
            </a:r>
            <a:r>
              <a:rPr sz="1300" b="1">
                <a:solidFill>
                  <a:srgbClr val="666666"/>
                </a:solidFill>
                <a:latin typeface="Roboto"/>
              </a:rPr>
              <a:t>on-policy</a:t>
            </a:r>
            <a:r>
              <a:rPr sz="1300" b="0">
                <a:solidFill>
                  <a:srgbClr val="666666"/>
                </a:solidFill>
                <a:latin typeface="Roboto"/>
              </a:rPr>
              <a:t>: aprende los valores de la misma política ε-greedy con la que se mueve, incluidos los errores que comete al explorar.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CliffWalking: Q-learning y SARSA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Cada paso cuesta −1 y caer al acantilado, −100. Con ε = 0.1, cada tanto el agente da un paso al azar (Sutton y Barto, ejemplo 6.6).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8912"/>
            <a:ext cx="8321040" cy="96723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Q-learning</a:t>
            </a:r>
            <a:r>
              <a:rPr sz="1300" b="0">
                <a:solidFill>
                  <a:srgbClr val="666666"/>
                </a:solidFill>
                <a:latin typeface="Roboto"/>
              </a:rPr>
              <a:t> aprende el camino óptimo, pegado al acantilado. Pero mientras explora se cae seguido: recompensa promedio cercana a −50 por episodio.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SARSA</a:t>
            </a:r>
            <a:r>
              <a:rPr sz="1300" b="0">
                <a:solidFill>
                  <a:srgbClr val="666666"/>
                </a:solidFill>
                <a:latin typeface="Roboto"/>
              </a:rPr>
              <a:t> tiene en cuenta sus propios errores y aprende un camino más alejado: es más largo, pero mientras entrena le va mejor (cerca de −25).</a:t>
            </a:r>
          </a:p>
        </p:txBody>
      </p:sp>
      <p:pic>
        <p:nvPicPr>
          <p:cNvPr id="5" name="Picture 4" descr="cliff-cami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413" y="2767583"/>
            <a:ext cx="4293172" cy="18501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Exploración decreciente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Explorar sirve al principio, cuando el agente no sabe nada, pero molesta al final. Se empieza con un ε alto y se lo reduce con el tiempo, por ejemplo en forma lineal durante los primeros T pasos:</a:t>
            </a:r>
          </a:p>
        </p:txBody>
      </p:sp>
      <p:pic>
        <p:nvPicPr>
          <p:cNvPr id="4" name="Picture 3" descr="5a9ea3b78a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174" y="1745488"/>
            <a:ext cx="3227651" cy="509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383404"/>
            <a:ext cx="8321040" cy="5709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Con un ε inicial de 1 el agente arranca eligiendo todo al azar.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Termina explorando solo una fracción pequeña de las veces, por ejemplo 0.05.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045836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Si ε llega a 0, SARSA y Q-learning terminan aprendiendo la misma política.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Cuando los estados no entran en una tabla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1068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FrozenLake tiene 16 estados y CliffWalking, 48.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El backgammon tiene alrededor de 10²⁰.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En un juego de Atari el estado es la pantalla: 256^(84·84) imágenes posibles.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Si el estado son números reales (posición, velocidad), hay </a:t>
            </a:r>
            <a:r>
              <a:rPr sz="1300" b="1">
                <a:solidFill>
                  <a:srgbClr val="666666"/>
                </a:solidFill>
                <a:latin typeface="Roboto"/>
              </a:rPr>
              <a:t>infinitos</a:t>
            </a:r>
            <a:r>
              <a:rPr sz="1300" b="0">
                <a:solidFill>
                  <a:srgbClr val="666666"/>
                </a:solidFill>
                <a:latin typeface="Roboto"/>
              </a:rPr>
              <a:t> estados.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257552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Con una tabla aparecen dos problemas: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71064"/>
            <a:ext cx="8321040" cy="7691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Memoria:</a:t>
            </a:r>
            <a:r>
              <a:rPr sz="1300" b="0">
                <a:solidFill>
                  <a:srgbClr val="666666"/>
                </a:solidFill>
                <a:latin typeface="Roboto"/>
              </a:rPr>
              <a:t> no entra.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Generalización:</a:t>
            </a:r>
            <a:r>
              <a:rPr sz="1300" b="0">
                <a:solidFill>
                  <a:srgbClr val="666666"/>
                </a:solidFill>
                <a:latin typeface="Roboto"/>
              </a:rPr>
              <a:t> cada casilla se aprende por separado. Lo aprendido en un estado no sirve para un estado parecido, y la mayoría de los estados no se visitan nunca.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Ejemplo: CartPole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502920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Mantener un palo en equilibrio sobre un carrito.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510791"/>
            <a:ext cx="5029200" cy="126695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Estado:</a:t>
            </a:r>
            <a:r>
              <a:rPr sz="1300" b="0">
                <a:solidFill>
                  <a:srgbClr val="666666"/>
                </a:solidFill>
                <a:latin typeface="Roboto"/>
              </a:rPr>
              <a:t> posición y velocidad del carrito, ángulo y velocidad angular del palo. Son 4 números reales.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Acciones:</a:t>
            </a:r>
            <a:r>
              <a:rPr sz="1300" b="0">
                <a:solidFill>
                  <a:srgbClr val="666666"/>
                </a:solidFill>
                <a:latin typeface="Roboto"/>
              </a:rPr>
              <a:t> empujar a la izquierda o a la derecha.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Recompensa:</a:t>
            </a:r>
            <a:r>
              <a:rPr sz="1300" b="0">
                <a:solidFill>
                  <a:srgbClr val="666666"/>
                </a:solidFill>
                <a:latin typeface="Roboto"/>
              </a:rPr>
              <a:t> +1 por cada paso con el palo en pie, hasta 500.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Fin:</a:t>
            </a:r>
            <a:r>
              <a:rPr sz="1300" b="0">
                <a:solidFill>
                  <a:srgbClr val="666666"/>
                </a:solidFill>
                <a:latin typeface="Roboto"/>
              </a:rPr>
              <a:t> el palo se inclina más de 12° o el carrito se sale de la pista.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869184"/>
            <a:ext cx="5029200" cy="67259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Discretizar (por ejemplo, 6 intervalos por variable: 6⁴ = 1296 estados) funciona a medias: con pocos intervalos se pierde precisión, y con muchos cada estado se visita muy poco.</a:t>
            </a:r>
          </a:p>
        </p:txBody>
      </p:sp>
      <p:pic>
        <p:nvPicPr>
          <p:cNvPr id="6" name="Picture 5" descr="cartp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2065352"/>
            <a:ext cx="3017520" cy="158429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Aproximación de funciones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Se reemplaza la tabla por una función con parámetros </a:t>
            </a:r>
            <a:r>
              <a:rPr sz="1300" b="1">
                <a:solidFill>
                  <a:srgbClr val="666666"/>
                </a:solidFill>
                <a:latin typeface="Roboto"/>
              </a:rPr>
              <a:t>w</a:t>
            </a:r>
            <a:r>
              <a:rPr sz="1300" b="0">
                <a:solidFill>
                  <a:srgbClr val="666666"/>
                </a:solidFill>
                <a:latin typeface="Roboto"/>
              </a:rPr>
              <a:t>:</a:t>
            </a:r>
          </a:p>
        </p:txBody>
      </p:sp>
      <p:pic>
        <p:nvPicPr>
          <p:cNvPr id="4" name="Picture 3" descr="905857571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3625" y="1547367"/>
            <a:ext cx="1696748" cy="23533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1910718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La función tiene muchos menos parámetros que estados. Al ajustar </a:t>
            </a:r>
            <a:r>
              <a:rPr sz="1300" b="1">
                <a:solidFill>
                  <a:srgbClr val="666666"/>
                </a:solidFill>
                <a:latin typeface="Roboto"/>
              </a:rPr>
              <a:t>w</a:t>
            </a:r>
            <a:r>
              <a:rPr sz="1300" b="0">
                <a:solidFill>
                  <a:srgbClr val="666666"/>
                </a:solidFill>
                <a:latin typeface="Roboto"/>
              </a:rPr>
              <a:t> con la experiencia de un estado, cambian también los valores de los estados parecidos: la función </a:t>
            </a:r>
            <a:r>
              <a:rPr sz="1300" b="1">
                <a:solidFill>
                  <a:srgbClr val="666666"/>
                </a:solidFill>
                <a:latin typeface="Roboto"/>
              </a:rPr>
              <a:t>generaliza</a:t>
            </a:r>
            <a:r>
              <a:rPr sz="1300" b="0">
                <a:solidFill>
                  <a:srgbClr val="666666"/>
                </a:solidFill>
                <a:latin typeface="Robot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522350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La tabla es un caso particular: un parámetro por cada par (s, 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Aprender como un problema de regresión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Cada transición (s, a, r, s′) da un </a:t>
            </a:r>
            <a:r>
              <a:rPr sz="1300" b="1">
                <a:solidFill>
                  <a:srgbClr val="666666"/>
                </a:solidFill>
                <a:latin typeface="Roboto"/>
              </a:rPr>
              <a:t>objetivo</a:t>
            </a:r>
            <a:r>
              <a:rPr sz="1300" b="0">
                <a:solidFill>
                  <a:srgbClr val="666666"/>
                </a:solidFill>
                <a:latin typeface="Roboto"/>
              </a:rPr>
              <a:t> para el valor de (s, a):</a:t>
            </a:r>
          </a:p>
        </p:txBody>
      </p:sp>
      <p:pic>
        <p:nvPicPr>
          <p:cNvPr id="4" name="Picture 3" descr="37f9c3556d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299" y="1547367"/>
            <a:ext cx="2173401" cy="3424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017843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Se minimiza el error cuadrático, como en una regresión:</a:t>
            </a:r>
          </a:p>
        </p:txBody>
      </p:sp>
      <p:pic>
        <p:nvPicPr>
          <p:cNvPr id="6" name="Picture 5" descr="9dc5fd4ac9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2415" y="2467931"/>
            <a:ext cx="2119168" cy="2753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2871262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con un paso de descenso por el gradiente:</a:t>
            </a:r>
          </a:p>
        </p:txBody>
      </p:sp>
      <p:pic>
        <p:nvPicPr>
          <p:cNvPr id="8" name="Picture 7" descr="438cd2fc05d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1147" y="3321350"/>
            <a:ext cx="3461705" cy="2353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3684700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y también depende de w, pero no se deriva: se lo trata como un dato. Por eso se llama método de semi-gradiente.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Una red neuronal como aproximador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502920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En DQN la función es una red neuronal: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510791"/>
            <a:ext cx="5029200" cy="5709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Entrada:</a:t>
            </a:r>
            <a:r>
              <a:rPr sz="1300" b="0">
                <a:solidFill>
                  <a:srgbClr val="666666"/>
                </a:solidFill>
                <a:latin typeface="Roboto"/>
              </a:rPr>
              <a:t> el estado 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Salida:</a:t>
            </a:r>
            <a:r>
              <a:rPr sz="1300" b="0">
                <a:solidFill>
                  <a:srgbClr val="666666"/>
                </a:solidFill>
                <a:latin typeface="Roboto"/>
              </a:rPr>
              <a:t> un valor por cada acción, q̂(s, a₁), …, q̂(s, aₙ).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173224"/>
            <a:ext cx="5029200" cy="7183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Con una sola pasada se obtienen los valores de todas las acciones: justo lo que hace falta para calcular el máximo del objetivo y para elegir la acción greedy.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982975"/>
            <a:ext cx="502920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Para CartPole alcanza con dos capas ocultas de 128 neuronas: unos 17 mil parámetros.</a:t>
            </a:r>
          </a:p>
        </p:txBody>
      </p:sp>
      <p:pic>
        <p:nvPicPr>
          <p:cNvPr id="7" name="Picture 6" descr="red-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997927"/>
            <a:ext cx="3017520" cy="17191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Q-learning con una red: por qué falla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Si se entrena la red con cada transición a medida que llega, no aprende: en CartPole termina peor que una política al azar. Hay dos causas: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8912"/>
            <a:ext cx="8321040" cy="96723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Muestras correlacionadas.</a:t>
            </a:r>
            <a:r>
              <a:rPr sz="1300" b="0">
                <a:solidFill>
                  <a:srgbClr val="666666"/>
                </a:solidFill>
                <a:latin typeface="Roboto"/>
              </a:rPr>
              <a:t> Las transiciones consecutivas son casi iguales. La red se ajusta a la situación del momento y, como generaliza, cambia los valores de todos los demás estados.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Objetivo que se mueve.</a:t>
            </a:r>
            <a:r>
              <a:rPr sz="1300" b="0">
                <a:solidFill>
                  <a:srgbClr val="666666"/>
                </a:solidFill>
                <a:latin typeface="Roboto"/>
              </a:rPr>
              <a:t> y se calcula con la misma red que se entrena: cada paso de gradiente cambia el objetivo.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767583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Ninguno de los dos problemas aparecía con la tabla.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tríada mortal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Sutton y Barto llaman así a tres ingredientes que, juntos, pueden volver inestable el aprendizaje o hacerlo diverger: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8912"/>
            <a:ext cx="8321040" cy="8199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Aproximación de funciones.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Bootstrapping:</a:t>
            </a:r>
            <a:r>
              <a:rPr sz="1300" b="0">
                <a:solidFill>
                  <a:srgbClr val="666666"/>
                </a:solidFill>
                <a:latin typeface="Roboto"/>
              </a:rPr>
              <a:t> el objetivo usa estimaciones, como max q̂(s′, a′).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Aprendizaje off-policy.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20264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Q-learning con una red tiene los tres. DQN no elimina la tríada, pero agrega dos ideas que estabilizan mucho el entrenamiento: la memoria de repetición y la red objetivo.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Memoria de repetición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5029200" cy="7691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Cada transición (s, a, r, s′) se guarda en una memoria de capacidad fija. Cuando se llena, se descartan las más viejas.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En cada paso se entrena con un </a:t>
            </a:r>
            <a:r>
              <a:rPr sz="1300" b="1">
                <a:solidFill>
                  <a:srgbClr val="666666"/>
                </a:solidFill>
                <a:latin typeface="Roboto"/>
              </a:rPr>
              <a:t>minibatch al azar</a:t>
            </a:r>
            <a:r>
              <a:rPr sz="1300" b="0">
                <a:solidFill>
                  <a:srgbClr val="666666"/>
                </a:solidFill>
                <a:latin typeface="Roboto"/>
              </a:rPr>
              <a:t> de la memoria.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957831"/>
            <a:ext cx="5029200" cy="5709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Rompe la correlación:</a:t>
            </a:r>
            <a:r>
              <a:rPr sz="1300" b="0">
                <a:solidFill>
                  <a:srgbClr val="666666"/>
                </a:solidFill>
                <a:latin typeface="Roboto"/>
              </a:rPr>
              <a:t> el minibatch mezcla momentos distintos.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1">
                <a:solidFill>
                  <a:srgbClr val="666666"/>
                </a:solidFill>
                <a:latin typeface="Roboto"/>
              </a:rPr>
              <a:t>Reusa la experiencia:</a:t>
            </a:r>
            <a:r>
              <a:rPr sz="1300" b="0">
                <a:solidFill>
                  <a:srgbClr val="666666"/>
                </a:solidFill>
                <a:latin typeface="Roboto"/>
              </a:rPr>
              <a:t> cada transición se usa muchas veces.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620264"/>
            <a:ext cx="502920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Funciona porque Q-learning es off-policy: puede aprender q* de transiciones generadas por versiones viejas del propio agente.</a:t>
            </a:r>
          </a:p>
        </p:txBody>
      </p:sp>
      <p:pic>
        <p:nvPicPr>
          <p:cNvPr id="6" name="Picture 5" descr="memor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759491"/>
            <a:ext cx="3017520" cy="219601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Una copia de la red con pesos </a:t>
            </a:r>
            <a:r>
              <a:rPr sz="1300" b="1">
                <a:solidFill>
                  <a:srgbClr val="666666"/>
                </a:solidFill>
                <a:latin typeface="Roboto"/>
              </a:rPr>
              <a:t>w⁻</a:t>
            </a:r>
            <a:r>
              <a:rPr sz="1300" b="0">
                <a:solidFill>
                  <a:srgbClr val="666666"/>
                </a:solidFill>
                <a:latin typeface="Roboto"/>
              </a:rPr>
              <a:t>, congelada. Cada C pasos se copian los pesos: w⁻ ← w. El objetivo se calcula con esa copia:</a:t>
            </a:r>
          </a:p>
        </p:txBody>
      </p:sp>
      <p:pic>
        <p:nvPicPr>
          <p:cNvPr id="4" name="Picture 3" descr="d96fdf6c55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108" y="1745488"/>
            <a:ext cx="2305782" cy="3511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" y="2224684"/>
            <a:ext cx="8321040" cy="5709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Durante C pasos el objetivo queda fijo, y el problema se parece a una regresión común.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Juntando las dos ideas, DQN minimiza:</a:t>
            </a:r>
          </a:p>
        </p:txBody>
      </p:sp>
      <p:pic>
        <p:nvPicPr>
          <p:cNvPr id="6" name="Picture 5" descr="38e32fac67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6050" y="2923692"/>
            <a:ext cx="5251898" cy="509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Algoritmo DQN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1828799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200"/>
              </a:spcAft>
            </a:pPr>
            <a:r>
              <a:rPr sz="1100" b="0">
                <a:solidFill>
                  <a:srgbClr val="434343"/>
                </a:solidFill>
                <a:latin typeface="Roboto Mono"/>
              </a:rPr>
              <a:t>Inicializar la memoria D (capacidad N), la red q̂ con pesos w al azar y w⁻ = w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34343"/>
                </a:solidFill>
                <a:latin typeface="Roboto Mono"/>
              </a:rPr>
              <a:t>Para cada paso: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34343"/>
                </a:solidFill>
                <a:latin typeface="Roboto Mono"/>
              </a:rPr>
              <a:t>    Elegir a con ε-greedy sobre q̂(s, ·; w)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34343"/>
                </a:solidFill>
                <a:latin typeface="Roboto Mono"/>
              </a:rPr>
              <a:t>    Ejecutar a, observar r y s′; guardar (s, a, r, s′, terminal) en D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34343"/>
                </a:solidFill>
                <a:latin typeface="Roboto Mono"/>
              </a:rPr>
              <a:t>    Muestrear un minibatch de D y calcular, para cada transición: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34343"/>
                </a:solidFill>
                <a:latin typeface="Roboto Mono"/>
              </a:rPr>
              <a:t>        yⱼ = rⱼ                                 si s′ⱼ es terminal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34343"/>
                </a:solidFill>
                <a:latin typeface="Roboto Mono"/>
              </a:rPr>
              <a:t>        yⱼ = rⱼ + γ maxₐ′ q̂(s′ⱼ, a′; w⁻)        si no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34343"/>
                </a:solidFill>
                <a:latin typeface="Roboto Mono"/>
              </a:rPr>
              <a:t>    Dar un paso de gradiente sobre (yⱼ − q̂(sⱼ, aⱼ; w))²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434343"/>
                </a:solidFill>
                <a:latin typeface="Roboto Mono"/>
              </a:rPr>
              <a:t>    Cada C pasos: w⁻ ← 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017520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Mnih et al. (2015). En la práctica se usa la pérdida de Huber y un ε decreciente, y se empieza a entrenar cuando la memoria ya tiene algunas transiciones.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aporta cada pieza?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DQN en CartPole, 100.000 pasos, tres semillas por variante: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510791"/>
            <a:ext cx="8321040" cy="48971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Solo con las dos piezas juntas el agente aprende en las tres semillas. Mnih et al. hicieron el mismo experimento con 5 juegos de Atari: allí cada idea sola ya mejoraba, y las dos juntas mucho más.</a:t>
            </a:r>
          </a:p>
        </p:txBody>
      </p:sp>
      <p:pic>
        <p:nvPicPr>
          <p:cNvPr id="5" name="Picture 4" descr="abl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2091943"/>
            <a:ext cx="8229600" cy="179605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DQN en Atari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151587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La entrada eran los últimos 4 cuadros de la pantalla, para percibir el movimiento.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Capas convolucionales y una salida por cada botón del joystick.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La </a:t>
            </a:r>
            <a:r>
              <a:rPr sz="1300" b="1">
                <a:solidFill>
                  <a:srgbClr val="666666"/>
                </a:solidFill>
                <a:latin typeface="Roboto"/>
              </a:rPr>
              <a:t>misma arquitectura y los mismos hiperparámetros</a:t>
            </a:r>
            <a:r>
              <a:rPr sz="1300" b="0">
                <a:solidFill>
                  <a:srgbClr val="666666"/>
                </a:solidFill>
                <a:latin typeface="Roboto"/>
              </a:rPr>
              <a:t> para 49 juegos distintos.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Unos 50 millones de cuadros por juego: alrededor de 38 días de juego.</a:t>
            </a:r>
          </a:p>
          <a:p>
            <a:pPr marL="228600" indent="-164592">
              <a:spcAft>
                <a:spcPts val="400"/>
              </a:spcAft>
              <a:buChar char="•"/>
            </a:pPr>
            <a:r>
              <a:rPr sz="1300" b="0">
                <a:solidFill>
                  <a:srgbClr val="666666"/>
                </a:solidFill>
                <a:latin typeface="Roboto"/>
              </a:rPr>
              <a:t>Superó a un jugador humano profesional en 22 juegos, y alcanzó al menos el 75 % de su puntaje en 29 de los 46 comparados.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04591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Sutton y Barto, sección 16.5.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Más allá de DQN: Double DQN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8321040" cy="520191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El máximo del objetivo tiende a </a:t>
            </a:r>
            <a:r>
              <a:rPr sz="1300" b="1">
                <a:solidFill>
                  <a:srgbClr val="666666"/>
                </a:solidFill>
                <a:latin typeface="Roboto"/>
              </a:rPr>
              <a:t>sobreestimar</a:t>
            </a:r>
            <a:r>
              <a:rPr sz="1300" b="0">
                <a:solidFill>
                  <a:srgbClr val="666666"/>
                </a:solidFill>
                <a:latin typeface="Roboto"/>
              </a:rPr>
              <a:t> los valores: elige la acción y la evalúa con las mismas estimaciones ruidosas (sesgo de maximización).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708912"/>
            <a:ext cx="8321040" cy="32207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666666"/>
                </a:solidFill>
                <a:latin typeface="Roboto"/>
              </a:rPr>
              <a:t>Double DQN separa las dos cosas: la red principal elige la acción y la red objetivo la evalúa.</a:t>
            </a:r>
          </a:p>
        </p:txBody>
      </p:sp>
      <p:pic>
        <p:nvPicPr>
          <p:cNvPr id="5" name="Picture 4" descr="848c7b96ad6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0536" y="2159000"/>
            <a:ext cx="3462926" cy="4107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2697763"/>
            <a:ext cx="8321040" cy="306832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8761D"/>
                </a:solidFill>
                <a:latin typeface="Roboto"/>
              </a:rPr>
              <a:t>van Hasselt, Guez y Silver (2016). Es un cambio de una línea en el código.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
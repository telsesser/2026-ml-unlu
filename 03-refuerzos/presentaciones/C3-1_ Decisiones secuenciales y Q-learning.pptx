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59" r:id="rId10"/>
  </p:sldIdLst>
  <p:sldSz cy="5143500" cx="9144000"/>
  <p:notesSz cx="6858000" cy="9144000"/>
  <p:embeddedFontLst>
    <p:embeddedFont>
      <p:font typeface="Robo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Roboto-regular.fntdata"/><Relationship Id="rId12" Type="http://schemas.openxmlformats.org/officeDocument/2006/relationships/font" Target="fonts/Roboto-bold.fntdata"/><Relationship Id="rId13" Type="http://schemas.openxmlformats.org/officeDocument/2006/relationships/font" Target="fonts/Roboto-italic.fntdata"/><Relationship Id="rId14" Type="http://schemas.openxmlformats.org/officeDocument/2006/relationships/font" Target="fonts/Roboto-boldItalic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1b7713da_1_8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1b7713da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6742fa1e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6742fa1e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6742fa1ef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6742fa1ef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67ae16a20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667ae16a20_1_19:notes"/>
          <p:cNvSpPr/>
          <p:nvPr>
            <p:ph idx="2" type="sldImg"/>
          </p:nvPr>
        </p:nvSpPr>
        <p:spPr>
          <a:xfrm>
            <a:off x="615661" y="685800"/>
            <a:ext cx="56274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1" name="Google Shape;21;p4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8" name="Google Shape;58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p1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8" name="Google Shape;68;p15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" name="Google Shape;73;p1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6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77" name="Google Shape;77;p16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6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6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6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20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99" name="Google Shape;99;p20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0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0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0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0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1" cy="5146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92" y="256399"/>
            <a:ext cx="1024501" cy="114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1536675" y="546325"/>
            <a:ext cx="2642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Laboratorio de Ciencia de Datos &amp; Inteligencia Artificial (LICDIA)</a:t>
            </a:r>
            <a:endParaRPr sz="100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4898" y="4082050"/>
            <a:ext cx="741917" cy="78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0375" y="4045975"/>
            <a:ext cx="857250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450" y="4079313"/>
            <a:ext cx="676275" cy="79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21" name="Google Shape;121;p2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2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466075" y="2800950"/>
            <a:ext cx="24285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Aprendizaje Automático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66075" y="1965960"/>
            <a:ext cx="3931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Decisiones secuenciales y Q-learning</a:t>
            </a:r>
            <a:endParaRPr b="1" sz="1800"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</a:rPr>
              <a:t>Outline de la presentaci</a:t>
            </a:r>
            <a:r>
              <a:rPr lang="es" sz="2520">
                <a:solidFill>
                  <a:srgbClr val="1C4587"/>
                </a:solidFill>
              </a:rPr>
              <a:t>ón</a:t>
            </a:r>
            <a:endParaRPr sz="2520">
              <a:solidFill>
                <a:srgbClr val="1C4587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623550" y="1081175"/>
            <a:ext cx="8405700" cy="35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bajo incertidumbre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Utilidad y máxima utilidad esperada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Exploración y explotación: tragamonedas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secuenciales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Políticas y retorno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Procesos de decisión de Markov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Ecuaciones de Bellman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Iteración de valores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Aprendizaje por refuerzo sin modelo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Diferencias temporales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Q-learning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Aprendizaje por refuerzo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1097280"/>
            <a:ext cx="502920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agente</a:t>
            </a:r>
            <a:r>
              <a:rPr sz="1300" b="0">
                <a:solidFill>
                  <a:srgbClr val="666666"/>
                </a:solidFill>
                <a:latin typeface="Roboto"/>
              </a:rPr>
              <a:t> aprende qué hacer —una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— interactuando con un </a:t>
            </a:r>
            <a:r>
              <a:rPr sz="1300" b="1">
                <a:solidFill>
                  <a:srgbClr val="666666"/>
                </a:solidFill>
                <a:latin typeface="Roboto"/>
              </a:rPr>
              <a:t>entorno</a:t>
            </a:r>
            <a:r>
              <a:rPr sz="1300" b="0">
                <a:solidFill>
                  <a:srgbClr val="666666"/>
                </a:solidFill>
                <a:latin typeface="Roboto"/>
              </a:rPr>
              <a:t>, para maximizar la </a:t>
            </a:r>
            <a:r>
              <a:rPr sz="1300" b="1">
                <a:solidFill>
                  <a:srgbClr val="666666"/>
                </a:solidFill>
                <a:latin typeface="Roboto"/>
              </a:rPr>
              <a:t>recompensa</a:t>
            </a:r>
            <a:r>
              <a:rPr sz="1300" b="0">
                <a:solidFill>
                  <a:srgbClr val="666666"/>
                </a:solidFill>
                <a:latin typeface="Roboto"/>
              </a:rPr>
              <a:t> que recibe a largo plazo.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1708912"/>
            <a:ext cx="502920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cada paso el agente observa el estado y elige una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entorno responde con una recompensa y un nuevo estado.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Nadie le dice al agente cuál era la acción correcta: solo recibe recompensas, y muchas veces llegan tarde.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11480" y="2818384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El objetivo es encontrar la política que maximiza la recompensa acumulada.</a:t>
            </a:r>
          </a:p>
        </p:txBody>
      </p:sp>
      <p:pic>
        <p:nvPicPr>
          <p:cNvPr id="151" name="Picture 150" descr="agente-ento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901952"/>
            <a:ext cx="3017520" cy="1911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ráfico de Barras en Excel | Excel Para Todos" id="152" name="Google Shape;152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Gráfico de Barras en Excel | Excel Para Todos" id="153" name="Google Shape;153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4" name="Google Shape;154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5" name="Google Shape;155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252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545075" y="1236975"/>
            <a:ext cx="7750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Russell, S., &amp; Norvig, P. (2021). Artificial Intelligence: A Modern Approach (4th ed., Global ed.). Pearson.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Sutton, R. S., &amp; Barto, A. G. (2018). Reinforcement Learning: An Introduction (2nd ed.). MIT Press. http://incompleteideas.net/book/the-book-2nd.html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Watkins, C. J. C. H., &amp; Dayan, P. (1992). Q-learning. Machine Learning, 8(3–4), 279–292.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Auer, P., Cesa-Bianchi, N., &amp; Fischer, P. (2002). Finite-time analysis of the multiarmed bandit problem. Machine Learning, 47(2–3), 235–256.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bajo incertidumbre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búsqueda, cada acción tenía un resultado seguro. Ahora la misma acción puede llevar a resultados distintos, cada uno con cierta probabilidad.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Para decidir hace falta una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U(s), que mide qué tan deseable es cada resultado, y la probabilidad P(s′ | a) de cada resultado.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15595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Utilidad esperada de una acción:</a:t>
            </a:r>
          </a:p>
        </p:txBody>
      </p:sp>
      <p:pic>
        <p:nvPicPr>
          <p:cNvPr id="5" name="Picture 4" descr="48548c31ae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303" y="2606040"/>
            <a:ext cx="2391392" cy="498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305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Principio de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máxima utilidad esperada</a:t>
            </a:r>
            <a:r>
              <a:rPr sz="1300" b="0">
                <a:solidFill>
                  <a:srgbClr val="666666"/>
                </a:solidFill>
                <a:latin typeface="Roboto"/>
              </a:rPr>
              <a:t> (MEU): un agente racional elige</a:t>
            </a:r>
          </a:p>
        </p:txBody>
      </p:sp>
      <p:pic>
        <p:nvPicPr>
          <p:cNvPr id="7" name="Picture 6" descr="40cbb40e2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46" y="3683139"/>
            <a:ext cx="1768106" cy="3235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dos apuestas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A:</a:t>
            </a:r>
            <a:r>
              <a:rPr sz="1300" b="0">
                <a:solidFill>
                  <a:srgbClr val="666666"/>
                </a:solidFill>
                <a:latin typeface="Roboto"/>
              </a:rPr>
              <a:t> recibir 50 pesos seguros.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B:</a:t>
            </a:r>
            <a:r>
              <a:rPr sz="1300" b="0">
                <a:solidFill>
                  <a:srgbClr val="666666"/>
                </a:solidFill>
                <a:latin typeface="Roboto"/>
              </a:rPr>
              <a:t> tirar una moneda; si sale cara se reciben 120 pesos, si sale ceca, nada.</a:t>
            </a:r>
          </a:p>
        </p:txBody>
      </p:sp>
      <p:pic>
        <p:nvPicPr>
          <p:cNvPr id="4" name="Picture 3" descr="c8ceee9d64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057" y="1796287"/>
            <a:ext cx="4257885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5963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el dinero como utilidad, conviene B. Eso no quiere decir que B gane siempre: quiere decir que, jugando muchas veces, </a:t>
            </a:r>
            <a:r>
              <a:rPr sz="1300" b="1">
                <a:solidFill>
                  <a:srgbClr val="666666"/>
                </a:solidFill>
                <a:latin typeface="Roboto"/>
              </a:rPr>
              <a:t>en promedio</a:t>
            </a:r>
            <a:r>
              <a:rPr sz="1300" b="0">
                <a:solidFill>
                  <a:srgbClr val="666666"/>
                </a:solidFill>
                <a:latin typeface="Roboto"/>
              </a:rPr>
              <a:t> rinde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7127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utilidad no tiene por qué ser el dinero: expresa las preferencias del agente. Quien necesita sí o sí 50 pesos hoy puede preferir A sin ser irracional.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Tragamonedas: el valor de una acción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Hay k máquinas. Cada una paga una recompensa aleatoria, con una media propia que el agente </a:t>
            </a:r>
            <a:r>
              <a:rPr sz="1300" b="1">
                <a:solidFill>
                  <a:srgbClr val="666666"/>
                </a:solidFill>
                <a:latin typeface="Roboto"/>
              </a:rPr>
              <a:t>no conoce</a:t>
            </a:r>
            <a:r>
              <a:rPr sz="1300" b="0">
                <a:solidFill>
                  <a:srgbClr val="666666"/>
                </a:solidFill>
                <a:latin typeface="Roboto"/>
              </a:rPr>
              <a:t>. Sin las probabilidades no se puede calcular la utilidad esperada: hay que estimarla jugando.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estimado de una acción es el promedio de las recompensas que dio:</a:t>
            </a:r>
          </a:p>
        </p:txBody>
      </p:sp>
      <p:pic>
        <p:nvPicPr>
          <p:cNvPr id="5" name="Picture 4" descr="ac396be25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984" y="2159000"/>
            <a:ext cx="4090031" cy="479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76662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puede actualizar en forma incremental, sin guardar todas las recompensas:</a:t>
            </a:r>
          </a:p>
        </p:txBody>
      </p:sp>
      <p:pic>
        <p:nvPicPr>
          <p:cNvPr id="7" name="Picture 6" descr="63c7f14df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941" y="3216709"/>
            <a:ext cx="2326117" cy="4328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Exploración y explotación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Explotar:</a:t>
            </a:r>
            <a:r>
              <a:rPr sz="1300" b="0">
                <a:solidFill>
                  <a:srgbClr val="666666"/>
                </a:solidFill>
                <a:latin typeface="Roboto"/>
              </a:rPr>
              <a:t> elegir la acción que hoy parece mejor (la acción greedy).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Explorar:</a:t>
            </a:r>
            <a:r>
              <a:rPr sz="1300" b="0">
                <a:solidFill>
                  <a:srgbClr val="666666"/>
                </a:solidFill>
                <a:latin typeface="Roboto"/>
              </a:rPr>
              <a:t> probar otras acciones para estimar mejor su valor.</a:t>
            </a:r>
          </a:p>
        </p:txBody>
      </p:sp>
      <p:pic>
        <p:nvPicPr>
          <p:cNvPr id="4" name="Picture 3" descr="fe7466890f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426" y="1796287"/>
            <a:ext cx="1703146" cy="323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47886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greedy puede quedarse para siempre en una máquina que no es la mejor, porque nunca vuelve a probar las otras. La política </a:t>
            </a:r>
            <a:r>
              <a:rPr sz="1300" b="1">
                <a:solidFill>
                  <a:srgbClr val="666666"/>
                </a:solidFill>
                <a:latin typeface="Roboto"/>
              </a:rPr>
              <a:t>ε-greedy</a:t>
            </a:r>
            <a:r>
              <a:rPr sz="1300" b="0">
                <a:solidFill>
                  <a:srgbClr val="666666"/>
                </a:solidFill>
                <a:latin typeface="Roboto"/>
              </a:rPr>
              <a:t> explora una fracción ε de las veces:</a:t>
            </a:r>
          </a:p>
        </p:txBody>
      </p:sp>
      <p:pic>
        <p:nvPicPr>
          <p:cNvPr id="6" name="Picture 5" descr="d6fe960fc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28" y="2896094"/>
            <a:ext cx="4385542" cy="6275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UCB: explorar lo que menos se conoce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UCB (Upper Confidence Bound) no explora al azar: suma a cada valor estimado un término que premia a las acciones poco probadas.</a:t>
            </a:r>
          </a:p>
        </p:txBody>
      </p:sp>
      <p:pic>
        <p:nvPicPr>
          <p:cNvPr id="4" name="Picture 3" descr="e3a154edb5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743" y="1745488"/>
            <a:ext cx="2982513" cy="6474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20943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Qₜ(a) premia a las acciones que parecen buenas.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raíz crece con el tiempo t y baja con las veces Nₜ(a) que se eligió la acción: premia a las acciones poco probadas.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 regula cuánto se explora.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30415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Una acción que casi no se probó tiene una estimación incierta: puede ser mejor de lo que parece.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secuenciales: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116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Ahora cada acción lleva a un nuevo estado, y desde ahí hay que volver a decidir.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agente empieza en S y el juego termina en +1 o en −1. Las acciones </a:t>
            </a:r>
            <a:r>
              <a:rPr sz="1300" b="1">
                <a:solidFill>
                  <a:srgbClr val="666666"/>
                </a:solidFill>
                <a:latin typeface="Roboto"/>
              </a:rPr>
              <a:t>no son confiables</a:t>
            </a:r>
            <a:r>
              <a:rPr sz="1300" b="0">
                <a:solidFill>
                  <a:srgbClr val="666666"/>
                </a:solidFill>
                <a:latin typeface="Roboto"/>
              </a:rPr>
              <a:t>: van hacia donde se eligió con probabilidad 0.8, y hacia cada costado con 0.1.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54072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plan ↑ ↑ → → → solo sale bien si las cinco acciones salen bien:</a:t>
            </a:r>
          </a:p>
        </p:txBody>
      </p:sp>
      <p:pic>
        <p:nvPicPr>
          <p:cNvPr id="5" name="Picture 4" descr="3d0a27c5fc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114" y="2804160"/>
            <a:ext cx="987931" cy="208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40837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 plan fijo no alcanza: cuando una acción falla, el agente queda en un estado que el plan no previó.</a:t>
            </a:r>
          </a:p>
        </p:txBody>
      </p:sp>
      <p:pic>
        <p:nvPicPr>
          <p:cNvPr id="7" name="Picture 6" descr="mundo-4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153213"/>
            <a:ext cx="3108960" cy="14085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 dice qué hacer en </a:t>
            </a:r>
            <a:r>
              <a:rPr sz="1300" b="1">
                <a:solidFill>
                  <a:srgbClr val="666666"/>
                </a:solidFill>
                <a:latin typeface="Roboto"/>
              </a:rPr>
              <a:t>cada estado</a:t>
            </a:r>
            <a:r>
              <a:rPr sz="1300" b="0">
                <a:solidFill>
                  <a:srgbClr val="666666"/>
                </a:solidFill>
                <a:latin typeface="Roboto"/>
              </a:rPr>
              <a:t> al que se pueda llegar. Si una acción sale mal, el agente consulta la política en el estado donde quedó.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Determinista: una acción por estado.</a:t>
            </a:r>
          </a:p>
        </p:txBody>
      </p:sp>
      <p:pic>
        <p:nvPicPr>
          <p:cNvPr id="5" name="Picture 4" descr="5830ca159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252" y="2357120"/>
            <a:ext cx="767655" cy="235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72047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Estocástica: una probabilidad para cada acción.</a:t>
            </a:r>
          </a:p>
        </p:txBody>
      </p:sp>
      <p:pic>
        <p:nvPicPr>
          <p:cNvPr id="7" name="Picture 6" descr="fe73d1f67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986" y="3170558"/>
            <a:ext cx="2524187" cy="2353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33908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figura es la política óptima del mundo 4×3 cuando cada paso cuesta 0.04. Desde (3,1) da toda la vuelta para no arriesgarse a caer en −1.</a:t>
            </a:r>
          </a:p>
        </p:txBody>
      </p:sp>
      <p:pic>
        <p:nvPicPr>
          <p:cNvPr id="9" name="Picture 8" descr="politica-4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97533"/>
            <a:ext cx="2926080" cy="23199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Recompensas y retorno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Después de cada acción el agente recibe una recompensa. La utilidad de una secuencia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retorno</a:t>
            </a:r>
            <a:r>
              <a:rPr sz="1300" b="0">
                <a:solidFill>
                  <a:srgbClr val="666666"/>
                </a:solidFill>
                <a:latin typeface="Roboto"/>
              </a:rPr>
              <a:t>: la suma de las recompensas futuras, descontadas.</a:t>
            </a:r>
          </a:p>
        </p:txBody>
      </p:sp>
      <p:pic>
        <p:nvPicPr>
          <p:cNvPr id="4" name="Picture 3" descr="735ea7335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592" y="1745488"/>
            <a:ext cx="5930814" cy="6185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492085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</a:t>
            </a:r>
            <a:r>
              <a:rPr sz="1300" b="1">
                <a:solidFill>
                  <a:srgbClr val="666666"/>
                </a:solidFill>
                <a:latin typeface="Roboto"/>
              </a:rPr>
              <a:t>factor de descuento</a:t>
            </a:r>
            <a:r>
              <a:rPr sz="1300" b="0">
                <a:solidFill>
                  <a:srgbClr val="666666"/>
                </a:solidFill>
                <a:latin typeface="Roboto"/>
              </a:rPr>
              <a:t> γ ∈ [0, 1] indica cuánto valen las recompensas futuras frente a las inmediatas.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episódicas</a:t>
            </a:r>
            <a:r>
              <a:rPr sz="1300" b="0">
                <a:solidFill>
                  <a:srgbClr val="666666"/>
                </a:solidFill>
                <a:latin typeface="Roboto"/>
              </a:rPr>
              <a:t> (terminan siempre): se puede usar γ = 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continuas</a:t>
            </a:r>
            <a:r>
              <a:rPr sz="1300" b="0">
                <a:solidFill>
                  <a:srgbClr val="666666"/>
                </a:solidFill>
                <a:latin typeface="Roboto"/>
              </a:rPr>
              <a:t> (no terminan): hace falta γ &lt; 1 para que la suma sea finita.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0343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γ cerca de 0 el agente es miope; con γ cerca de 1, previsor.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Procesos de decisión de Markov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MDP</a:t>
            </a:r>
            <a:r>
              <a:rPr sz="1300" b="0">
                <a:solidFill>
                  <a:srgbClr val="666666"/>
                </a:solidFill>
                <a:latin typeface="Roboto"/>
              </a:rPr>
              <a:t> queda definido por:</a:t>
            </a:r>
          </a:p>
        </p:txBody>
      </p:sp>
      <p:pic>
        <p:nvPicPr>
          <p:cNvPr id="4" name="Picture 3" descr="a5948ec11e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950" y="1547367"/>
            <a:ext cx="1486099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estados, acciones, probabilidades de transición p(s′, r | s, a), recompensas y factor de descuento.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2423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Propiedad de Markov:</a:t>
            </a:r>
            <a:r>
              <a:rPr sz="1300" b="0">
                <a:solidFill>
                  <a:srgbClr val="666666"/>
                </a:solidFill>
                <a:latin typeface="Roboto"/>
              </a:rPr>
              <a:t> el próximo estado y la recompensa dependen solo del estado y la acción actuales, no de toda la historia.</a:t>
            </a:r>
          </a:p>
        </p:txBody>
      </p:sp>
      <p:pic>
        <p:nvPicPr>
          <p:cNvPr id="7" name="Picture 6" descr="99656c760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43" y="2972438"/>
            <a:ext cx="4973513" cy="2353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335788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Las tragamonedas son un MDP con un único estado.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Funciones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estado: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desde s, siguiendo la política π.</a:t>
            </a:r>
          </a:p>
        </p:txBody>
      </p:sp>
      <p:pic>
        <p:nvPicPr>
          <p:cNvPr id="4" name="Picture 3" descr="8868c50ca5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561" y="1547367"/>
            <a:ext cx="2054877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acción: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si en s se toma a, y después se sigue π.</a:t>
            </a:r>
          </a:p>
        </p:txBody>
      </p:sp>
      <p:pic>
        <p:nvPicPr>
          <p:cNvPr id="6" name="Picture 5" descr="da74260a23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85" y="2360806"/>
            <a:ext cx="2906628" cy="23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724156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un estado es el promedio de los valores de sus acciones:</a:t>
            </a:r>
          </a:p>
        </p:txBody>
      </p:sp>
      <p:pic>
        <p:nvPicPr>
          <p:cNvPr id="8" name="Picture 7" descr="cec3a070b0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512" y="3174244"/>
            <a:ext cx="2354975" cy="49029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un estado se escribe en función de los valores de los estados que le siguen:</a:t>
            </a:r>
          </a:p>
        </p:txBody>
      </p:sp>
      <p:pic>
        <p:nvPicPr>
          <p:cNvPr id="4" name="Picture 3" descr="6f2746bc1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781" y="1547367"/>
            <a:ext cx="4188436" cy="5257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01091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π(a | s): cuánto elige la política cada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p(s′, r | s, a): cómo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+ γ v(s′): la recompensa inmediata más el valor descontado de donde se llega.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12443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un sistema de ecuaciones, una por estado: sus incógnitas son los valores.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optimalidad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 óptima</a:t>
            </a:r>
            <a:r>
              <a:rPr sz="1300" b="0">
                <a:solidFill>
                  <a:srgbClr val="666666"/>
                </a:solidFill>
                <a:latin typeface="Roboto"/>
              </a:rPr>
              <a:t> π* obtiene el mayor valor en todos los estados. Sus valores cumplen la misma ecuación, pero tomando la mejor acción en lugar de promediar:</a:t>
            </a:r>
          </a:p>
        </p:txBody>
      </p:sp>
      <p:pic>
        <p:nvPicPr>
          <p:cNvPr id="4" name="Picture 3" descr="002390423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739" y="1745488"/>
            <a:ext cx="3574520" cy="525707"/>
          </a:xfrm>
          <a:prstGeom prst="rect">
            <a:avLst/>
          </a:prstGeom>
        </p:spPr>
      </p:pic>
      <p:pic>
        <p:nvPicPr>
          <p:cNvPr id="5" name="Picture 4" descr="5659b0ca6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783" y="2435787"/>
            <a:ext cx="4072432" cy="545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09117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Conociendo q*, la política óptima sale directo:</a:t>
            </a:r>
          </a:p>
        </p:txBody>
      </p:sp>
      <p:pic>
        <p:nvPicPr>
          <p:cNvPr id="7" name="Picture 6" descr="b95431484f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941" y="3559205"/>
            <a:ext cx="2066117" cy="323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010803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q* se elige la acción sin necesidad de conocer el modelo del mundo.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Iteración de valores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Calcula v* cuando se conocen las probabilidades de transición y las recompensas.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Inicializar V(s) = 0 para todos los estados.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Para cada estado, aplicar la actualización de Bellman:</a:t>
            </a:r>
          </a:p>
        </p:txBody>
      </p:sp>
      <p:pic>
        <p:nvPicPr>
          <p:cNvPr id="5" name="Picture 4" descr="3d4cadba4d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779" y="2209800"/>
            <a:ext cx="3824441" cy="525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863523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Repetir hasta que los valores casi no cambien.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óptima es la acción que alcanza el máximo en cada estado.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5955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Necesita el modelo completo y recorrer todos los estados en cada iteración. La iteración de políticas alterna dos pasos: evaluar la política y mejorarla.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problema del apostador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jugador apuesta a cara o ceca. Si sale cara (probabilidad 0.4) gana lo que apostó; si sale ceca, lo pierde. Termina al llegar a 100 o al quedarse sin nada.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Estado: el capital s. Acción: cuánto apostar, de 1 a min(s, 100 − s). Recompensa: +1 al llegar a 100.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cada estado es la probabilidad de ganar.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20675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4.3. A la izquierda, los valores; a la derecha, la política.</a:t>
            </a:r>
          </a:p>
        </p:txBody>
      </p:sp>
      <p:pic>
        <p:nvPicPr>
          <p:cNvPr id="5" name="Picture 4" descr="apost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619" y="2605024"/>
            <a:ext cx="3800760" cy="20126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Aprender sin modelo del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Casi nunca se conocen las probabilidades de transición. Hay que estimar los valores a partir de la </a:t>
            </a:r>
            <a:r>
              <a:rPr sz="1300" b="1">
                <a:solidFill>
                  <a:srgbClr val="666666"/>
                </a:solidFill>
                <a:latin typeface="Roboto"/>
              </a:rPr>
              <a:t>experiencia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Monte Carlo:</a:t>
            </a:r>
            <a:r>
              <a:rPr sz="1300" b="0">
                <a:solidFill>
                  <a:srgbClr val="666666"/>
                </a:solidFill>
                <a:latin typeface="Roboto"/>
              </a:rPr>
              <a:t> promediar los retornos observados. Hay que esperar a que termine el episodio.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Diferencias temporales (TD):</a:t>
            </a:r>
            <a:r>
              <a:rPr sz="1300" b="0">
                <a:solidFill>
                  <a:srgbClr val="666666"/>
                </a:solidFill>
                <a:latin typeface="Roboto"/>
              </a:rPr>
              <a:t> actualizar en cada paso, usando la estimación del estado siguiente.</a:t>
            </a:r>
          </a:p>
        </p:txBody>
      </p:sp>
      <p:pic>
        <p:nvPicPr>
          <p:cNvPr id="4" name="Picture 3" descr="948241677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07" y="2045207"/>
            <a:ext cx="4057984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40855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término entre corchetes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error TD</a:t>
            </a:r>
            <a:r>
              <a:rPr sz="1300" b="0">
                <a:solidFill>
                  <a:srgbClr val="666666"/>
                </a:solidFill>
                <a:latin typeface="Roboto"/>
              </a:rPr>
              <a:t>: la diferencia entre lo que se esperaba y lo que se obtuvo más lo que se espera obtener después. α es la tasa de aprendizaje.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Aplica la idea de TD a los valores de acción, usando la ecuación de optimalidad (Watkins, 1989):</a:t>
            </a:r>
          </a:p>
        </p:txBody>
      </p:sp>
      <p:pic>
        <p:nvPicPr>
          <p:cNvPr id="4" name="Picture 3" descr="b702489dea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214" y="1547367"/>
            <a:ext cx="5653571" cy="402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077410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No necesita modelo del mundo: aprende de las transiciones que vive.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 </a:t>
            </a:r>
            <a:r>
              <a:rPr sz="1300" b="1">
                <a:solidFill>
                  <a:srgbClr val="666666"/>
                </a:solidFill>
                <a:latin typeface="Roboto"/>
              </a:rPr>
              <a:t>off-policy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elige las acciones con ε-greedy, pero aprende los valores de la política greedy, es decir, q*.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Converge a q* si todas las acciones se siguen probando en todos los estados.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8876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la tabla Q aprendida, la política es elegir en cada estado la acción de mayor Q.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2174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Parámetros: α ∈ (0, 1], ε &gt; 0, γ ∈ [0, 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Inicializar Q(s, a) = 0 para todo s, 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Para cada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Inicializar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Repetir para cada paso del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Elegir A desde S con ε-greedy sobre Q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Ejecutar A, observar R y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Q(S, A) ← Q(S, A) + α [R + γ maxₐ Q(S′, a) − Q(S, A)]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S ←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hasta que S sea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362960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sección 6.5. Si S′ es terminal, su valor es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
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</p:sldIdLst>
  <p:sldSz cy="5143500" cx="9144000"/>
  <p:notesSz cx="6858000" cy="9144000"/>
  <p:embeddedFontLst>
    <p:embeddedFont>
      <p:font typeface="Roboto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-regular.fntdata"/><Relationship Id="rId10" Type="http://schemas.openxmlformats.org/officeDocument/2006/relationships/slide" Target="slides/slide4.xml"/><Relationship Id="rId13" Type="http://schemas.openxmlformats.org/officeDocument/2006/relationships/font" Target="fonts/Roboto-italic.fntdata"/><Relationship Id="rId12" Type="http://schemas.openxmlformats.org/officeDocument/2006/relationships/font" Target="fonts/Roboto-bold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font" Target="fonts/Roboto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f71b7713da_1_8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f71b7713da_1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66742fa1ef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66742fa1ef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66742fa1ef_0_4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66742fa1ef_0_4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667ae16a20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0" name="Google Shape;150;g3667ae16a20_1_19:notes"/>
          <p:cNvSpPr/>
          <p:nvPr>
            <p:ph idx="2" type="sldImg"/>
          </p:nvPr>
        </p:nvSpPr>
        <p:spPr>
          <a:xfrm>
            <a:off x="615661" y="685800"/>
            <a:ext cx="56274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6.png"/><Relationship Id="rId6" Type="http://schemas.openxmlformats.org/officeDocument/2006/relationships/image" Target="../media/image4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" y="0"/>
            <a:ext cx="9139139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pic>
        <p:nvPicPr>
          <p:cNvPr id="13" name="Google Shape;13;p2" title="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58866" y="4568874"/>
            <a:ext cx="459726" cy="515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" y="0"/>
            <a:ext cx="9139139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Font typeface="Roboto"/>
              <a:buNone/>
              <a:defRPr sz="25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Font typeface="Roboto"/>
              <a:buNone/>
              <a:defRPr sz="25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Font typeface="Roboto"/>
              <a:buNone/>
              <a:defRPr sz="25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Font typeface="Roboto"/>
              <a:buNone/>
              <a:defRPr sz="25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Font typeface="Roboto"/>
              <a:buNone/>
              <a:defRPr sz="25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Font typeface="Roboto"/>
              <a:buNone/>
              <a:defRPr sz="25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Font typeface="Roboto"/>
              <a:buNone/>
              <a:defRPr sz="25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Font typeface="Roboto"/>
              <a:buNone/>
              <a:defRPr sz="25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Font typeface="Roboto"/>
              <a:buNone/>
              <a:defRPr sz="25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pic>
        <p:nvPicPr>
          <p:cNvPr id="21" name="Google Shape;21;p4" title="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58866" y="4568874"/>
            <a:ext cx="459726" cy="515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14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8" name="Google Shape;58;p14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14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14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14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14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3" name="Google Shape;63;p14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4" name="Google Shape;64;p14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1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oogle Shape;67;p15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68" name="Google Shape;68;p15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15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15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5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5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3" name="Google Shape;73;p15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4" name="Google Shape;74;p1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oogle Shape;76;p16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77" name="Google Shape;77;p16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16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6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6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16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2" name="Google Shape;82;p1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" name="Google Shape;83;p16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4" name="Google Shape;84;p1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8" name="Google Shape;88;p17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9" name="Google Shape;89;p1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2" name="Google Shape;92;p1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6" name="Google Shape;96;p1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" name="Google Shape;98;p20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99" name="Google Shape;99;p20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20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20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20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20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4" name="Google Shape;104;p20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5" name="Google Shape;105;p2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">
  <p:cSld name="SECTION_TITLE_AND_DESCRIPTION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7" name="Google Shape;107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8" name="Google Shape;108;p21"/>
          <p:cNvSpPr txBox="1"/>
          <p:nvPr>
            <p:ph idx="1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110" name="Google Shape;110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1" cy="51462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1" title="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792" y="256399"/>
            <a:ext cx="1024501" cy="1149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1"/>
          <p:cNvSpPr txBox="1"/>
          <p:nvPr/>
        </p:nvSpPr>
        <p:spPr>
          <a:xfrm>
            <a:off x="1536675" y="546325"/>
            <a:ext cx="26424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1C4587"/>
                </a:solidFill>
                <a:latin typeface="Roboto"/>
                <a:ea typeface="Roboto"/>
                <a:cs typeface="Roboto"/>
                <a:sym typeface="Roboto"/>
              </a:rPr>
              <a:t>Laboratorio de Ciencia de Datos &amp; Inteligencia Artificial (LICDIA)</a:t>
            </a:r>
            <a:endParaRPr sz="1000">
              <a:solidFill>
                <a:srgbClr val="1C458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3" name="Google Shape;113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84898" y="4082050"/>
            <a:ext cx="741917" cy="78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90375" y="4045975"/>
            <a:ext cx="857250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4450" y="4079313"/>
            <a:ext cx="676275" cy="79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8" name="Google Shape;118;p2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" name="Google Shape;120;p2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21" name="Google Shape;121;p2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2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2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2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2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6" name="Google Shape;126;p23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7" name="Google Shape;127;p23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8" name="Google Shape;128;p2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5"/>
          <p:cNvSpPr txBox="1"/>
          <p:nvPr/>
        </p:nvSpPr>
        <p:spPr>
          <a:xfrm>
            <a:off x="466075" y="2800950"/>
            <a:ext cx="24285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B5394"/>
                </a:solidFill>
                <a:latin typeface="Roboto"/>
                <a:ea typeface="Roboto"/>
                <a:cs typeface="Roboto"/>
                <a:sym typeface="Roboto"/>
              </a:rPr>
              <a:t>Aprendizaje Automático</a:t>
            </a:r>
            <a:endParaRPr>
              <a:solidFill>
                <a:srgbClr val="0B539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" name="Google Shape;136;p25"/>
          <p:cNvSpPr txBox="1"/>
          <p:nvPr/>
        </p:nvSpPr>
        <p:spPr>
          <a:xfrm>
            <a:off x="466075" y="2180575"/>
            <a:ext cx="26931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B5394"/>
                </a:solidFill>
                <a:latin typeface="Roboto"/>
                <a:ea typeface="Roboto"/>
                <a:cs typeface="Roboto"/>
                <a:sym typeface="Roboto"/>
              </a:rPr>
              <a:t>Título de la clase</a:t>
            </a:r>
            <a:endParaRPr b="1" sz="1800">
              <a:solidFill>
                <a:srgbClr val="0B539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520">
                <a:solidFill>
                  <a:srgbClr val="1C4587"/>
                </a:solidFill>
              </a:rPr>
              <a:t>Outline de la presentaci</a:t>
            </a:r>
            <a:r>
              <a:rPr lang="es" sz="2520">
                <a:solidFill>
                  <a:srgbClr val="1C4587"/>
                </a:solidFill>
              </a:rPr>
              <a:t>ón</a:t>
            </a:r>
            <a:endParaRPr sz="2520">
              <a:solidFill>
                <a:srgbClr val="1C4587"/>
              </a:solidFill>
            </a:endParaRPr>
          </a:p>
        </p:txBody>
      </p:sp>
      <p:sp>
        <p:nvSpPr>
          <p:cNvPr id="142" name="Google Shape;142;p26"/>
          <p:cNvSpPr txBox="1"/>
          <p:nvPr>
            <p:ph idx="1" type="body"/>
          </p:nvPr>
        </p:nvSpPr>
        <p:spPr>
          <a:xfrm>
            <a:off x="623550" y="1081175"/>
            <a:ext cx="8405700" cy="354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-"/>
            </a:pPr>
            <a:r>
              <a:rPr lang="es" sz="1300">
                <a:latin typeface="Roboto"/>
                <a:ea typeface="Roboto"/>
                <a:cs typeface="Roboto"/>
                <a:sym typeface="Roboto"/>
              </a:rPr>
              <a:t>Tema 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-"/>
            </a:pPr>
            <a:r>
              <a:rPr lang="es" sz="1200">
                <a:latin typeface="Roboto"/>
                <a:ea typeface="Roboto"/>
                <a:cs typeface="Roboto"/>
                <a:sym typeface="Roboto"/>
              </a:rPr>
              <a:t>Subtema 1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-"/>
            </a:pPr>
            <a:r>
              <a:rPr lang="es" sz="1200">
                <a:latin typeface="Roboto"/>
                <a:ea typeface="Roboto"/>
                <a:cs typeface="Roboto"/>
                <a:sym typeface="Roboto"/>
              </a:rPr>
              <a:t>Subtema 2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-"/>
            </a:pPr>
            <a:r>
              <a:rPr lang="es" sz="1300">
                <a:latin typeface="Roboto"/>
                <a:ea typeface="Roboto"/>
                <a:cs typeface="Roboto"/>
                <a:sym typeface="Roboto"/>
              </a:rPr>
              <a:t>Tema 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9144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-"/>
            </a:pPr>
            <a:r>
              <a:rPr lang="es" sz="1200">
                <a:latin typeface="Roboto"/>
                <a:ea typeface="Roboto"/>
                <a:cs typeface="Roboto"/>
                <a:sym typeface="Roboto"/>
              </a:rPr>
              <a:t>Subtema 1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9144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-"/>
            </a:pPr>
            <a:r>
              <a:rPr lang="es" sz="1200">
                <a:latin typeface="Roboto"/>
                <a:ea typeface="Roboto"/>
                <a:cs typeface="Roboto"/>
                <a:sym typeface="Roboto"/>
              </a:rPr>
              <a:t>Subtema 2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9144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-"/>
            </a:pPr>
            <a:r>
              <a:rPr lang="es" sz="1200">
                <a:latin typeface="Roboto"/>
                <a:ea typeface="Roboto"/>
                <a:cs typeface="Roboto"/>
                <a:sym typeface="Roboto"/>
              </a:rPr>
              <a:t>Subtema 3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9144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-"/>
            </a:pPr>
            <a:r>
              <a:rPr lang="es" sz="1200">
                <a:latin typeface="Roboto"/>
                <a:ea typeface="Roboto"/>
                <a:cs typeface="Roboto"/>
                <a:sym typeface="Roboto"/>
              </a:rPr>
              <a:t>Subtema 4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-"/>
            </a:pPr>
            <a:r>
              <a:rPr lang="es" sz="1300">
                <a:latin typeface="Roboto"/>
                <a:ea typeface="Roboto"/>
                <a:cs typeface="Roboto"/>
                <a:sym typeface="Roboto"/>
              </a:rPr>
              <a:t>Referencias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520">
                <a:solidFill>
                  <a:srgbClr val="1C4587"/>
                </a:solidFill>
              </a:rPr>
              <a:t>Título</a:t>
            </a:r>
            <a:endParaRPr sz="2520">
              <a:solidFill>
                <a:srgbClr val="1C458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Gráfico de Barras en Excel | Excel Para Todos" id="152" name="Google Shape;152;p28"/>
          <p:cNvSpPr txBox="1"/>
          <p:nvPr/>
        </p:nvSpPr>
        <p:spPr>
          <a:xfrm>
            <a:off x="143608" y="-102394"/>
            <a:ext cx="274200" cy="2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79125" spcFirstLastPara="1" rIns="79125" wrap="square" tIns="39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ráfico de Barras en Excel | Excel Para Todos" id="153" name="Google Shape;153;p28"/>
          <p:cNvSpPr txBox="1"/>
          <p:nvPr/>
        </p:nvSpPr>
        <p:spPr>
          <a:xfrm>
            <a:off x="143608" y="-102394"/>
            <a:ext cx="274200" cy="2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79125" spcFirstLastPara="1" rIns="79125" wrap="square" tIns="39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Diagrama de Barras: Concepto y Aplicación | Excel Para Todos" id="154" name="Google Shape;154;p28"/>
          <p:cNvSpPr txBox="1"/>
          <p:nvPr/>
        </p:nvSpPr>
        <p:spPr>
          <a:xfrm>
            <a:off x="143608" y="-102394"/>
            <a:ext cx="274200" cy="2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79125" spcFirstLastPara="1" rIns="79125" wrap="square" tIns="39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Diagrama de Barras: Concepto y Aplicación | Excel Para Todos" id="155" name="Google Shape;155;p28"/>
          <p:cNvSpPr txBox="1"/>
          <p:nvPr/>
        </p:nvSpPr>
        <p:spPr>
          <a:xfrm>
            <a:off x="143608" y="-102394"/>
            <a:ext cx="274200" cy="2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79125" spcFirstLastPara="1" rIns="79125" wrap="square" tIns="39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8"/>
          <p:cNvSpPr txBox="1"/>
          <p:nvPr>
            <p:ph idx="4294967295"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520">
                <a:solidFill>
                  <a:srgbClr val="1C4587"/>
                </a:solidFill>
                <a:latin typeface="Roboto"/>
                <a:ea typeface="Roboto"/>
                <a:cs typeface="Roboto"/>
                <a:sym typeface="Roboto"/>
              </a:rPr>
              <a:t>Referencias</a:t>
            </a:r>
            <a:endParaRPr sz="2520">
              <a:solidFill>
                <a:srgbClr val="1C458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" name="Google Shape;157;p28"/>
          <p:cNvSpPr txBox="1"/>
          <p:nvPr/>
        </p:nvSpPr>
        <p:spPr>
          <a:xfrm>
            <a:off x="545075" y="1236975"/>
            <a:ext cx="77502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-"/>
            </a:pPr>
            <a:r>
              <a:rPr lang="e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Formato APA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-"/>
            </a:pPr>
            <a:r>
              <a:rPr lang="e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Formato APA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-"/>
            </a:pPr>
            <a:r>
              <a:rPr lang="e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Formato APA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-"/>
            </a:pPr>
            <a:r>
              <a:rPr lang="e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Formato APA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-"/>
            </a:pPr>
            <a:r>
              <a:rPr lang="e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Formato APA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
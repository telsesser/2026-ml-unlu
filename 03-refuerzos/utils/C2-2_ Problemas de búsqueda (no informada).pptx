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0E7C16-8FEF-40FA-8C61-64260221D3E6}">
  <a:tblStyle styleId="{BC0E7C16-8FEF-40FA-8C61-64260221D3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Roboto-regular.fntdata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Roboto-italic.fntdata"/><Relationship Id="rId14" Type="http://schemas.openxmlformats.org/officeDocument/2006/relationships/slide" Target="slides/slide6.xml"/><Relationship Id="rId36" Type="http://schemas.openxmlformats.org/officeDocument/2006/relationships/font" Target="fonts/Roboto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d33399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d33399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1d33399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1d33399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3ef653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3ef653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fa8800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3fa8800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fa88003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fa88003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3ef65369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3ef65369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3fa88003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3fa88003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3fa88003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3fa88003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3fa88003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3fa88003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3fa88003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3fa88003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3fa880030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3fa880030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3fa880030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3fa880030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3fa880030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3fa880030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3fa880030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3fa88003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3fa880030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3fa880030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3fa880030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3fa880030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3fa880030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3fa880030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3fa880030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3fa880030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3fa880030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3fa880030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3fa880030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3fa880030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3fa880030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3fa880030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3fa880030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3fa880030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3fa880030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3fa880030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3fa880030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3fa880030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3fa880030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3fa880030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3ef65369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g3f3ef65369b_0_145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66" name="Google Shape;66;p15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1" name="Google Shape;71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76" name="Google Shape;76;p17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5" name="Google Shape;115;p27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Roboto"/>
              <a:buNone/>
              <a:defRPr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  <a:defRPr sz="1600"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■"/>
              <a:defRPr sz="1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20" name="Google Shape;120;p2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None/>
              <a:defRPr>
                <a:solidFill>
                  <a:srgbClr val="0B5394"/>
                </a:solidFill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125" name="Google Shape;125;p29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5" name="Google Shape;13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4" name="Google Shape;14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hyperlink" Target="https://jumafernandez.github.io/simulador-busqueda-ia/" TargetMode="External"/><Relationship Id="rId5" Type="http://schemas.openxmlformats.org/officeDocument/2006/relationships/hyperlink" Target="https://jumafernandez.github.io/simulador-busqueda-ia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rtint.info/3e/html/ArtInt3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/>
        </p:nvSpPr>
        <p:spPr>
          <a:xfrm>
            <a:off x="528800" y="2152377"/>
            <a:ext cx="26931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Búsqueda no informada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7"/>
          <p:cNvSpPr txBox="1"/>
          <p:nvPr/>
        </p:nvSpPr>
        <p:spPr>
          <a:xfrm>
            <a:off x="528800" y="2744227"/>
            <a:ext cx="26931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Outline de la presentación</a:t>
            </a:r>
            <a:endParaRPr/>
          </a:p>
        </p:txBody>
      </p:sp>
      <p:sp>
        <p:nvSpPr>
          <p:cNvPr id="162" name="Google Shape;162;p38"/>
          <p:cNvSpPr txBox="1"/>
          <p:nvPr>
            <p:ph idx="1" type="body"/>
          </p:nvPr>
        </p:nvSpPr>
        <p:spPr>
          <a:xfrm>
            <a:off x="499325" y="1167875"/>
            <a:ext cx="6678900" cy="3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769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63"/>
              <a:buChar char="-"/>
            </a:pPr>
            <a:r>
              <a:rPr lang="es" sz="1263"/>
              <a:t>Resolver problemas como búsqueda</a:t>
            </a:r>
            <a:endParaRPr sz="1263"/>
          </a:p>
          <a:p>
            <a:pPr indent="-308769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63"/>
              <a:buChar char="-"/>
            </a:pPr>
            <a:r>
              <a:rPr lang="es" sz="1263"/>
              <a:t>Espacios de estados</a:t>
            </a:r>
            <a:endParaRPr sz="1263"/>
          </a:p>
          <a:p>
            <a:pPr indent="-308769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63"/>
              <a:buChar char="-"/>
            </a:pPr>
            <a:r>
              <a:rPr lang="es" sz="1263"/>
              <a:t>De los espacios de estados a los grafos</a:t>
            </a:r>
            <a:endParaRPr sz="1263"/>
          </a:p>
          <a:p>
            <a:pPr indent="-308769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63"/>
              <a:buChar char="-"/>
            </a:pPr>
            <a:r>
              <a:rPr lang="es" sz="1263"/>
              <a:t>El algoritmo general de búsqueda</a:t>
            </a:r>
            <a:endParaRPr sz="1263"/>
          </a:p>
          <a:p>
            <a:pPr indent="-308769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63"/>
              <a:buChar char="-"/>
            </a:pPr>
            <a:r>
              <a:rPr lang="es" sz="1263"/>
              <a:t>Estrategias de búsqueda:</a:t>
            </a:r>
            <a:endParaRPr sz="1263"/>
          </a:p>
          <a:p>
            <a:pPr indent="-291148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985"/>
              <a:buChar char="-"/>
            </a:pPr>
            <a:r>
              <a:rPr lang="es" sz="985"/>
              <a:t>Búsqueda en amplitud (BFS)</a:t>
            </a:r>
            <a:endParaRPr sz="985"/>
          </a:p>
          <a:p>
            <a:pPr indent="-291148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985"/>
              <a:buChar char="-"/>
            </a:pPr>
            <a:r>
              <a:rPr lang="es" sz="985"/>
              <a:t>Búsqueda en profundidad (DFS) (y con Profundidad limitada)</a:t>
            </a:r>
            <a:endParaRPr sz="985"/>
          </a:p>
          <a:p>
            <a:pPr indent="-291148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985"/>
              <a:buChar char="-"/>
            </a:pPr>
            <a:r>
              <a:rPr lang="es" sz="985"/>
              <a:t>Profundidad iterativa</a:t>
            </a:r>
            <a:endParaRPr sz="985"/>
          </a:p>
          <a:p>
            <a:pPr indent="-291148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985"/>
              <a:buChar char="-"/>
            </a:pPr>
            <a:r>
              <a:rPr lang="es" sz="985"/>
              <a:t>Búsqueda de Dijkstra o costo uniforme</a:t>
            </a:r>
            <a:endParaRPr sz="985"/>
          </a:p>
          <a:p>
            <a:pPr indent="-291148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985"/>
              <a:buChar char="-"/>
            </a:pPr>
            <a:r>
              <a:rPr lang="es" sz="985"/>
              <a:t>Búsqueda bidireccional</a:t>
            </a:r>
            <a:endParaRPr sz="985"/>
          </a:p>
          <a:p>
            <a:pPr indent="-3079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es" sz="1250"/>
              <a:t>Comparación de estrategias de búsqueda</a:t>
            </a:r>
            <a:endParaRPr sz="1250"/>
          </a:p>
          <a:p>
            <a:pPr indent="-3079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es" sz="1250"/>
              <a:t>Referencias</a:t>
            </a:r>
            <a:endParaRPr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 txBox="1"/>
          <p:nvPr/>
        </p:nvSpPr>
        <p:spPr>
          <a:xfrm>
            <a:off x="307700" y="1107887"/>
            <a:ext cx="817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es fundamental en la Inteligencia Artificial. Cuando se le plantea un problema a un agente, generalmente solo se le proporciona una descripción que le permite reconocer una solución, no un algoritmo para resolverlo. Debe buscar la solución por sí mismo.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39"/>
          <p:cNvSpPr txBox="1"/>
          <p:nvPr/>
        </p:nvSpPr>
        <p:spPr>
          <a:xfrm>
            <a:off x="307700" y="294750"/>
            <a:ext cx="6834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La búsqueda en IA</a:t>
            </a:r>
            <a:endParaRPr sz="25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225" y="2078425"/>
            <a:ext cx="4194675" cy="2681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9"/>
          <p:cNvSpPr txBox="1"/>
          <p:nvPr/>
        </p:nvSpPr>
        <p:spPr>
          <a:xfrm>
            <a:off x="307700" y="2734050"/>
            <a:ext cx="3813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En el caso más simple de un agente que decide qué hacer, este posee un modelo perfecto del mundo, sin incertidumbre, y un objetivo que alcanzar.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 txBox="1"/>
          <p:nvPr/>
        </p:nvSpPr>
        <p:spPr>
          <a:xfrm>
            <a:off x="400650" y="1057950"/>
            <a:ext cx="8077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En el caso más simple, un agente debe decidir qué hacer para alcanzar un objetivo. 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Para ello, se supone que: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1400"/>
              <a:buFont typeface="Roboto"/>
              <a:buChar char="★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conoce el estado actual del mundo;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1400"/>
              <a:buFont typeface="Roboto"/>
              <a:buChar char="★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conoce las acciones que puede realizar;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1400"/>
              <a:buFont typeface="Roboto"/>
              <a:buChar char="★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conoce los efectos de esas acciones;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1400"/>
              <a:buFont typeface="Roboto"/>
              <a:buChar char="★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puede reconocer cuándo alcanzó el objetivo.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40"/>
          <p:cNvSpPr txBox="1"/>
          <p:nvPr/>
        </p:nvSpPr>
        <p:spPr>
          <a:xfrm>
            <a:off x="307700" y="294750"/>
            <a:ext cx="6834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Resolver problemas como búsqueda</a:t>
            </a:r>
            <a:endParaRPr sz="25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40"/>
          <p:cNvSpPr txBox="1"/>
          <p:nvPr/>
        </p:nvSpPr>
        <p:spPr>
          <a:xfrm>
            <a:off x="1510600" y="3960775"/>
            <a:ext cx="5743800" cy="9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problema de decisión puede abstraerse como un problema de búsqueda que consiste en e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ncontrar una secuencia de acciones que lleve al agente desde una situación inicial hasta una situación que satisfaga el objetivo.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988" y="1715525"/>
            <a:ext cx="271462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Formulación de un problema de búsqueda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41"/>
          <p:cNvSpPr txBox="1"/>
          <p:nvPr/>
        </p:nvSpPr>
        <p:spPr>
          <a:xfrm>
            <a:off x="589623" y="1145469"/>
            <a:ext cx="5751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problema de búsqueda en un espacio de estados está compuesto por: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conjunto de estados posibles;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estado inicial;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las acciones disponibles en cada estado;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una función que determina el efecto de ejecutar una acción;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una condición que permite reconocer los estados objetivo;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criterio para evaluar la calidad de una solución.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41"/>
          <p:cNvSpPr txBox="1"/>
          <p:nvPr/>
        </p:nvSpPr>
        <p:spPr>
          <a:xfrm>
            <a:off x="1184000" y="3956795"/>
            <a:ext cx="3220500" cy="86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solución es una secuencia de acciones que conduce desde el estado inicial hasta algún estado que satisface el objetivo.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41"/>
          <p:cNvPicPr preferRelativeResize="0"/>
          <p:nvPr/>
        </p:nvPicPr>
        <p:blipFill rotWithShape="1">
          <a:blip r:embed="rId3">
            <a:alphaModFix/>
          </a:blip>
          <a:srcRect b="0" l="12998" r="0" t="0"/>
          <a:stretch/>
        </p:blipFill>
        <p:spPr>
          <a:xfrm>
            <a:off x="6622551" y="2256888"/>
            <a:ext cx="2158000" cy="7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4924" y="3025110"/>
            <a:ext cx="2480475" cy="5029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 txBox="1"/>
          <p:nvPr/>
        </p:nvSpPr>
        <p:spPr>
          <a:xfrm>
            <a:off x="4983950" y="3956800"/>
            <a:ext cx="2766000" cy="861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solución que es la mejor de acuerdo con un criterio determinado se denomina </a:t>
            </a: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solución óptima</a:t>
            </a: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" name="Google Shape;189;p41"/>
          <p:cNvCxnSpPr>
            <a:stCxn id="186" idx="1"/>
          </p:cNvCxnSpPr>
          <p:nvPr/>
        </p:nvCxnSpPr>
        <p:spPr>
          <a:xfrm flipH="1">
            <a:off x="5267451" y="2614900"/>
            <a:ext cx="1355100" cy="1380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41"/>
          <p:cNvCxnSpPr>
            <a:stCxn id="187" idx="1"/>
          </p:cNvCxnSpPr>
          <p:nvPr/>
        </p:nvCxnSpPr>
        <p:spPr>
          <a:xfrm rot="10800000">
            <a:off x="5368324" y="3244786"/>
            <a:ext cx="426600" cy="318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1" name="Google Shape;19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500" y="933350"/>
            <a:ext cx="1758900" cy="12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Espacios de estados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42"/>
          <p:cNvPicPr preferRelativeResize="0"/>
          <p:nvPr/>
        </p:nvPicPr>
        <p:blipFill rotWithShape="1">
          <a:blip r:embed="rId3">
            <a:alphaModFix/>
          </a:blip>
          <a:srcRect b="13465" l="0" r="0" t="0"/>
          <a:stretch/>
        </p:blipFill>
        <p:spPr>
          <a:xfrm>
            <a:off x="4145050" y="736450"/>
            <a:ext cx="4633624" cy="2149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2"/>
          <p:cNvSpPr txBox="1"/>
          <p:nvPr/>
        </p:nvSpPr>
        <p:spPr>
          <a:xfrm>
            <a:off x="399525" y="1286546"/>
            <a:ext cx="35592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espacio de estados representa las distintas situaciones relevantes en las que puede encontrarse un agente y las acciones que permiten pasar de una situación a otra.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42"/>
          <p:cNvSpPr txBox="1"/>
          <p:nvPr/>
        </p:nvSpPr>
        <p:spPr>
          <a:xfrm>
            <a:off x="3733875" y="3073500"/>
            <a:ext cx="50448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estado debe contener toda la información necesaria para: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determinar qué acciones están disponibles;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predecir sus efectos;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verificar si se alcanzó el objetivo.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42"/>
          <p:cNvSpPr txBox="1"/>
          <p:nvPr/>
        </p:nvSpPr>
        <p:spPr>
          <a:xfrm>
            <a:off x="650325" y="3158100"/>
            <a:ext cx="2849100" cy="12006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solución es una secuencia de acciones que lleva al agente desde el estado inicial hasta un estado que satisface el objetivo.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3"/>
          <p:cNvPicPr preferRelativeResize="0"/>
          <p:nvPr/>
        </p:nvPicPr>
        <p:blipFill rotWithShape="1">
          <a:blip r:embed="rId3">
            <a:alphaModFix/>
          </a:blip>
          <a:srcRect b="25566" l="0" r="67187" t="17670"/>
          <a:stretch/>
        </p:blipFill>
        <p:spPr>
          <a:xfrm>
            <a:off x="2437628" y="2111654"/>
            <a:ext cx="1995426" cy="185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3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Espacios de estados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43"/>
          <p:cNvPicPr preferRelativeResize="0"/>
          <p:nvPr/>
        </p:nvPicPr>
        <p:blipFill rotWithShape="1">
          <a:blip r:embed="rId3">
            <a:alphaModFix/>
          </a:blip>
          <a:srcRect b="13465" l="32240" r="0" t="0"/>
          <a:stretch/>
        </p:blipFill>
        <p:spPr>
          <a:xfrm>
            <a:off x="4433057" y="1496800"/>
            <a:ext cx="4120649" cy="28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3"/>
          <p:cNvSpPr/>
          <p:nvPr/>
        </p:nvSpPr>
        <p:spPr>
          <a:xfrm>
            <a:off x="5540596" y="1690532"/>
            <a:ext cx="1364100" cy="503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3"/>
          <p:cNvSpPr txBox="1"/>
          <p:nvPr/>
        </p:nvSpPr>
        <p:spPr>
          <a:xfrm>
            <a:off x="4333179" y="887950"/>
            <a:ext cx="2227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Rob </a:t>
            </a: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está en la posición (5,8);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tiene 6 unidades de combustible;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recogió C1​;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recogió C2​;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recogió C3​;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recogió C4​.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43"/>
          <p:cNvSpPr/>
          <p:nvPr/>
        </p:nvSpPr>
        <p:spPr>
          <a:xfrm>
            <a:off x="3483329" y="2756970"/>
            <a:ext cx="621000" cy="351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3"/>
          <p:cNvSpPr txBox="1"/>
          <p:nvPr/>
        </p:nvSpPr>
        <p:spPr>
          <a:xfrm>
            <a:off x="3595675" y="4417950"/>
            <a:ext cx="50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objetivo final es un estado más, algo como</a:t>
            </a: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(1, 1, ?, t, t, t, t)</a:t>
            </a:r>
            <a:endParaRPr b="1" i="1" sz="1500"/>
          </a:p>
        </p:txBody>
      </p:sp>
      <p:sp>
        <p:nvSpPr>
          <p:cNvPr id="212" name="Google Shape;212;p43"/>
          <p:cNvSpPr txBox="1"/>
          <p:nvPr/>
        </p:nvSpPr>
        <p:spPr>
          <a:xfrm>
            <a:off x="426100" y="1057950"/>
            <a:ext cx="2608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Un estado se representa de la siguiente manera:  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(x, y, fuel, C</a:t>
            </a:r>
            <a:r>
              <a:rPr b="1" baseline="-25000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C</a:t>
            </a:r>
            <a:r>
              <a:rPr b="1" baseline="-25000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C</a:t>
            </a:r>
            <a:r>
              <a:rPr b="1" baseline="-25000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C</a:t>
            </a:r>
            <a:r>
              <a:rPr b="1" baseline="-25000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i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4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grafos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44"/>
          <p:cNvSpPr txBox="1"/>
          <p:nvPr/>
        </p:nvSpPr>
        <p:spPr>
          <a:xfrm>
            <a:off x="4633379" y="1426737"/>
            <a:ext cx="3996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de encontrar una secuencia de acciones para alcanzar un objetivo puede representarse como la búsqueda de un camino en un </a:t>
            </a: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grafo dirigido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79" y="1285158"/>
            <a:ext cx="2465200" cy="18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4"/>
          <p:cNvSpPr/>
          <p:nvPr/>
        </p:nvSpPr>
        <p:spPr>
          <a:xfrm>
            <a:off x="1932952" y="1342458"/>
            <a:ext cx="554400" cy="503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4"/>
          <p:cNvSpPr/>
          <p:nvPr/>
        </p:nvSpPr>
        <p:spPr>
          <a:xfrm>
            <a:off x="1932954" y="2628358"/>
            <a:ext cx="554400" cy="342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4"/>
          <p:cNvSpPr txBox="1"/>
          <p:nvPr/>
        </p:nvSpPr>
        <p:spPr>
          <a:xfrm>
            <a:off x="2206729" y="1052483"/>
            <a:ext cx="20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los nodos representan </a:t>
            </a:r>
            <a:r>
              <a:rPr b="1"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estados</a:t>
            </a:r>
            <a:endParaRPr b="1"/>
          </a:p>
        </p:txBody>
      </p:sp>
      <p:sp>
        <p:nvSpPr>
          <p:cNvPr id="223" name="Google Shape;223;p44"/>
          <p:cNvSpPr txBox="1"/>
          <p:nvPr/>
        </p:nvSpPr>
        <p:spPr>
          <a:xfrm>
            <a:off x="1945439" y="2995626"/>
            <a:ext cx="2131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las aristas representan </a:t>
            </a:r>
            <a:r>
              <a:rPr b="1"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acciones</a:t>
            </a: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posibles.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4"/>
          <p:cNvSpPr txBox="1"/>
          <p:nvPr/>
        </p:nvSpPr>
        <p:spPr>
          <a:xfrm>
            <a:off x="195350" y="1750858"/>
            <a:ext cx="1566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s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arco ⟨ni​,nj​⟩ indica que una acción permite pasar del estado ni​ al estado nj​;</a:t>
            </a:r>
            <a:endParaRPr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4"/>
          <p:cNvSpPr txBox="1"/>
          <p:nvPr/>
        </p:nvSpPr>
        <p:spPr>
          <a:xfrm>
            <a:off x="4316300" y="3270850"/>
            <a:ext cx="38619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Las soluciones posibles para llegar de A a G son: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⟨A,B,F,D,H,G⟩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⟨A,D,H,G⟩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-"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⟨A,C,J,G⟩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4"/>
          <p:cNvSpPr txBox="1"/>
          <p:nvPr/>
        </p:nvSpPr>
        <p:spPr>
          <a:xfrm>
            <a:off x="6019150" y="4047500"/>
            <a:ext cx="2371500" cy="3849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¿Cuál es la solución óptima?</a:t>
            </a:r>
            <a:endParaRPr/>
          </a:p>
        </p:txBody>
      </p:sp>
      <p:sp>
        <p:nvSpPr>
          <p:cNvPr id="227" name="Google Shape;227;p44"/>
          <p:cNvSpPr/>
          <p:nvPr/>
        </p:nvSpPr>
        <p:spPr>
          <a:xfrm>
            <a:off x="1444324" y="1648090"/>
            <a:ext cx="965400" cy="1134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El algoritmo general de búsqueda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701" y="1116475"/>
            <a:ext cx="2829251" cy="256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5"/>
          <p:cNvSpPr txBox="1"/>
          <p:nvPr/>
        </p:nvSpPr>
        <p:spPr>
          <a:xfrm>
            <a:off x="3288450" y="1784800"/>
            <a:ext cx="5198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Inicializar la frontera con el camino que contiene únicamente el nodo inicial.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Seleccionar y retirar un camino de la frontera.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Verificar si su último nodo satisface el objetivo.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 lo satisface, devolver el camino como solución.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 no, extender el camino hacia cada nodo vecino.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Incorporar los nuevos caminos a la frontera.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Roboto"/>
              <a:buAutoNum type="arabicPeriod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Repetir mientras existan caminos por explorar.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5"/>
          <p:cNvSpPr/>
          <p:nvPr/>
        </p:nvSpPr>
        <p:spPr>
          <a:xfrm>
            <a:off x="4697459" y="1784798"/>
            <a:ext cx="672600" cy="436800"/>
          </a:xfrm>
          <a:prstGeom prst="ellipse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5"/>
          <p:cNvSpPr txBox="1"/>
          <p:nvPr/>
        </p:nvSpPr>
        <p:spPr>
          <a:xfrm>
            <a:off x="4898849" y="1107425"/>
            <a:ext cx="4047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es el conjunto de caminos descubiertos que todavía no fueron explorados y que podrían extenderse hacia un nodo objetivo.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El algoritmo general de búsqueda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98" y="1472300"/>
            <a:ext cx="3253675" cy="294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6"/>
          <p:cNvSpPr txBox="1"/>
          <p:nvPr/>
        </p:nvSpPr>
        <p:spPr>
          <a:xfrm>
            <a:off x="848600" y="1161025"/>
            <a:ext cx="45720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procedure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Search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(G,s,g⁢o⁢a⁢l)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Inputs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   G: graph with nodes N and arcs A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   s: start node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   g⁢o⁢a⁢l: Boolean function of nodes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   path from s to a node for which g⁢o⁢a⁢l is true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   or ⊥ if there are no solution paths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9: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Local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   f⁢r⁢o⁢n⁢t⁢i⁢e⁢r: set of paths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  f⁢r⁢o⁢n⁢t⁢i⁢e⁢r:=⁢{⟨s⟩}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12: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f⁢r⁢o⁢n⁢t⁢i⁢e⁢r≠{}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13: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remove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⟨n0,…,nk⟩ from f⁢r⁢o⁢n⁢t⁢i⁢e⁢r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14: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g⁢o⁢a⁢l⁢(nk)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15: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⟨n0,…,nk⟩    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   f⁢r⁢o⁢n⁢t⁢i⁢e⁢r:=⁢f⁢r⁢o⁢n⁢t⁢i⁢e⁢r∪{⟨n0,…,nk,n⟩:⟨nk,n⟩∈A}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17: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⊥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 estrategia está en la frontera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7"/>
          <p:cNvSpPr txBox="1"/>
          <p:nvPr/>
        </p:nvSpPr>
        <p:spPr>
          <a:xfrm>
            <a:off x="410700" y="1130000"/>
            <a:ext cx="7965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algoritmo general siempre realiza las mismas operaciones. Las distintas estrategias de búsqueda se diferencian en una decisión: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b="1" lang="es" sz="13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Búsqueda en amplitud: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selecciona el camino con menos aristas.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b="1" lang="es" sz="13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Búsqueda en profundidad: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selecciona uno de los caminos más recientemente incorporados.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b="1" lang="es" sz="13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Profundidad iterativa: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repite búsquedas en profundidad con límites crecientes.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b="1" lang="es" sz="13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Costo uniforme: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selecciona el camino con menor costo acumulado.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7"/>
          <p:cNvSpPr txBox="1"/>
          <p:nvPr/>
        </p:nvSpPr>
        <p:spPr>
          <a:xfrm>
            <a:off x="1577675" y="3817800"/>
            <a:ext cx="5466300" cy="6465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frontera puede implementarse como una cola, una pila o una cola de prioridad, según la estrategia.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854" y="1534577"/>
            <a:ext cx="3238600" cy="240166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8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amplitud (BFS)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8"/>
          <p:cNvSpPr txBox="1"/>
          <p:nvPr/>
        </p:nvSpPr>
        <p:spPr>
          <a:xfrm>
            <a:off x="307700" y="1141175"/>
            <a:ext cx="5292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en amplitud explora primero los caminos más cortos en cantidad de aristas.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8"/>
          <p:cNvSpPr txBox="1"/>
          <p:nvPr/>
        </p:nvSpPr>
        <p:spPr>
          <a:xfrm>
            <a:off x="307700" y="2009500"/>
            <a:ext cx="4792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Los caminos se incorporan al final de la frontera y se seleccionan desde el principio: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8"/>
          <p:cNvSpPr txBox="1"/>
          <p:nvPr/>
        </p:nvSpPr>
        <p:spPr>
          <a:xfrm>
            <a:off x="475700" y="3023175"/>
            <a:ext cx="4624200" cy="13698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 esta manera, la búsqueda avanza por niveles: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primero el estado inicial;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después los estados alcanzables con una acción;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luego los alcanzables con dos acciones; y así sucesivamente.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8"/>
          <p:cNvSpPr txBox="1"/>
          <p:nvPr/>
        </p:nvSpPr>
        <p:spPr>
          <a:xfrm>
            <a:off x="5748375" y="477350"/>
            <a:ext cx="3000000" cy="923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las acciones tienen costos diferentes, la solución con menos acciones no necesariamente es la de menor costo.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300" y="4070046"/>
            <a:ext cx="2225700" cy="5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854" y="1301702"/>
            <a:ext cx="3238600" cy="240166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9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amplitud (BFS)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300" y="3837171"/>
            <a:ext cx="2225700" cy="56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325" y="1139475"/>
            <a:ext cx="5243500" cy="304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amplitud (BFS): Ejemplo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50" y="1425117"/>
            <a:ext cx="2460475" cy="16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0"/>
          <p:cNvSpPr txBox="1"/>
          <p:nvPr/>
        </p:nvSpPr>
        <p:spPr>
          <a:xfrm>
            <a:off x="3072000" y="1824642"/>
            <a:ext cx="15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Estado inicial: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50"/>
          <p:cNvSpPr txBox="1"/>
          <p:nvPr/>
        </p:nvSpPr>
        <p:spPr>
          <a:xfrm>
            <a:off x="4919900" y="1370592"/>
            <a:ext cx="3378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1, [⟨A⟩]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2, [⟨A,B⟩, ⟨A,C⟩, ⟨A,D⟩]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3, [⟨A,B,E⟩, ⟨A,B,F⟩, ⟨A,C,J⟩, ⟨A,D,H⟩]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4, [⟨A,B,F,D⟩, ⟨A,C,J,G⟩, ⟨A,D,H,G⟩]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50"/>
          <p:cNvSpPr/>
          <p:nvPr/>
        </p:nvSpPr>
        <p:spPr>
          <a:xfrm>
            <a:off x="6159322" y="2609742"/>
            <a:ext cx="809700" cy="503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0"/>
          <p:cNvSpPr txBox="1"/>
          <p:nvPr/>
        </p:nvSpPr>
        <p:spPr>
          <a:xfrm>
            <a:off x="5064175" y="3164342"/>
            <a:ext cx="30000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BFS encuentra una solución con la menor cantidad de aristas. Entre soluciones de igual longitud, el resultado depende del orden en que se incorporan los vecinos.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1308250" y="3470567"/>
            <a:ext cx="3000000" cy="6465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BFS ignora los pesos y trabaja por cantidad de acciones.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profundidad (DFS)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51"/>
          <p:cNvSpPr txBox="1"/>
          <p:nvPr/>
        </p:nvSpPr>
        <p:spPr>
          <a:xfrm>
            <a:off x="307700" y="1141175"/>
            <a:ext cx="5292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en profundidad selecciona el camino incorporado más recientemente a la frontera.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51"/>
          <p:cNvSpPr txBox="1"/>
          <p:nvPr/>
        </p:nvSpPr>
        <p:spPr>
          <a:xfrm>
            <a:off x="307700" y="2009500"/>
            <a:ext cx="5113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Cuando un camino no puede continuar, el algoritmo retrocede y explora la siguiente alternativa disponible. Este proceso se denomina </a:t>
            </a: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backtracking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51"/>
          <p:cNvSpPr txBox="1"/>
          <p:nvPr/>
        </p:nvSpPr>
        <p:spPr>
          <a:xfrm>
            <a:off x="475700" y="3342450"/>
            <a:ext cx="4624200" cy="13698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profundiza por una alternativa hasta: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encontrar un estado objetivo;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alcanzar un estado sin sucesores;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 no poder continuar el camino.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51"/>
          <p:cNvSpPr txBox="1"/>
          <p:nvPr/>
        </p:nvSpPr>
        <p:spPr>
          <a:xfrm>
            <a:off x="5914375" y="387975"/>
            <a:ext cx="3000000" cy="14775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utiliza poca memoria, pero no garantiza encontrar el camino con menos aristas; el resultado depende del orden de los vecinos; puede quedar atrapada en ciclos o caminos infinitos.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0" name="Google Shape;2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138" y="1998663"/>
            <a:ext cx="2866463" cy="2125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1693" y="4334153"/>
            <a:ext cx="2678049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profundidad (DFS)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303" y="2175703"/>
            <a:ext cx="3496824" cy="2593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2"/>
          <p:cNvSpPr txBox="1"/>
          <p:nvPr/>
        </p:nvSpPr>
        <p:spPr>
          <a:xfrm>
            <a:off x="434225" y="1213250"/>
            <a:ext cx="5651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procedure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DF_search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(G,⟨n0,…,nk⟩,g⁢o⁢a⁢l)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Inputs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   G: graph with nodes N and arcs A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   ⟨n0,…,nk⟩: path from node n0 to node nk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   g⁢o⁢a⁢l: Boolean function on nodes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   path that extends ⟨n0,…,nk⟩ to a goal node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   or ⊥ if there is no such path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9: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g⁢o⁢a⁢l⁢(nk)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⟨n0,…,nk⟩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12: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each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arc ⟨nk,n⟩∈A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13: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     r⁢e⁢s:=⁢D⁢F⁢_⁢s⁢e⁢a⁢r⁢c⁢h⁢(G,⟨n0,…,nk,n⟩,g⁢o⁢a⁢l)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14: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r⁢e⁢s≠⊥ 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15: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r⁢e⁢s         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16: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⊥   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52"/>
          <p:cNvSpPr txBox="1"/>
          <p:nvPr/>
        </p:nvSpPr>
        <p:spPr>
          <a:xfrm>
            <a:off x="5132325" y="782725"/>
            <a:ext cx="3411300" cy="12006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Además, existe el algoritmo de </a:t>
            </a:r>
            <a:r>
              <a:rPr b="1"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Profundidad limitada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una variante de DFS que incorpora un límite fijo ℓ y no expande los caminos que alcanzan esa profundidad.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en profundidad (DFS): Ejemplo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5" name="Google Shape;3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50" y="1738200"/>
            <a:ext cx="2460475" cy="16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3"/>
          <p:cNvSpPr txBox="1"/>
          <p:nvPr/>
        </p:nvSpPr>
        <p:spPr>
          <a:xfrm>
            <a:off x="3072000" y="2137725"/>
            <a:ext cx="15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Estado inicial: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53"/>
          <p:cNvSpPr txBox="1"/>
          <p:nvPr/>
        </p:nvSpPr>
        <p:spPr>
          <a:xfrm>
            <a:off x="5020550" y="1303500"/>
            <a:ext cx="3378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1, [⟨A⟩]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2, [⟨A,B⟩, ⟨A,C⟩, ⟨A,D⟩]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3, [⟨A,B⟩, ⟨A,C⟩, ⟨A,D,H⟩]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4, </a:t>
            </a: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[⟨A,B⟩, ⟨A,C⟩, ⟨A,D,H,G⟩ ]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53"/>
          <p:cNvSpPr txBox="1"/>
          <p:nvPr/>
        </p:nvSpPr>
        <p:spPr>
          <a:xfrm>
            <a:off x="794950" y="3638275"/>
            <a:ext cx="3879000" cy="923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encuentra una solución de cinco aristas, aunque existen soluciones de tres aristas. La primera solución encontrada no necesariamente es la más corta.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con profundidad iterativa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54"/>
          <p:cNvSpPr txBox="1"/>
          <p:nvPr/>
        </p:nvSpPr>
        <p:spPr>
          <a:xfrm>
            <a:off x="375075" y="1057950"/>
            <a:ext cx="541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con profundidad iterativa combina dos ideas: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exploración en profundidad de DFS;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Char char="-"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por niveles de BFS.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54"/>
          <p:cNvSpPr txBox="1"/>
          <p:nvPr/>
        </p:nvSpPr>
        <p:spPr>
          <a:xfrm>
            <a:off x="307700" y="2254432"/>
            <a:ext cx="567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 ejecutan búsquedas en profundidad con límites crecientes: 1, 2, 3…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54"/>
          <p:cNvSpPr txBox="1"/>
          <p:nvPr/>
        </p:nvSpPr>
        <p:spPr>
          <a:xfrm>
            <a:off x="770925" y="3539175"/>
            <a:ext cx="4624200" cy="13698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Esto implica regenerar caminos ya explorados, pero permite: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utilizar mucha menos memoria que BFS;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evitar que DFS profundice indefinidamente;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Roboto"/>
              <a:buAutoNum type="arabicPeriod"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encontrar una solución con la menor cantidad de aristas.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54"/>
          <p:cNvSpPr txBox="1"/>
          <p:nvPr/>
        </p:nvSpPr>
        <p:spPr>
          <a:xfrm>
            <a:off x="6115650" y="588275"/>
            <a:ext cx="2415300" cy="1200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BFS, no garantiza el menor costo cuando las acciones tienen costos diferentes.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54"/>
          <p:cNvSpPr txBox="1"/>
          <p:nvPr/>
        </p:nvSpPr>
        <p:spPr>
          <a:xfrm>
            <a:off x="307700" y="2658518"/>
            <a:ext cx="514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 no se encuentra una solución con un límite determinado, se descarta la búsqueda realizada y se comienza nuevamente con un límite mayor.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54"/>
          <p:cNvPicPr preferRelativeResize="0"/>
          <p:nvPr/>
        </p:nvPicPr>
        <p:blipFill rotWithShape="1">
          <a:blip r:embed="rId3">
            <a:alphaModFix/>
          </a:blip>
          <a:srcRect b="7459" l="0" r="0" t="0"/>
          <a:stretch/>
        </p:blipFill>
        <p:spPr>
          <a:xfrm>
            <a:off x="5893725" y="1963625"/>
            <a:ext cx="3075500" cy="24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con profundidad iterativa (ID)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5" name="Google Shape;325;p55"/>
          <p:cNvPicPr preferRelativeResize="0"/>
          <p:nvPr/>
        </p:nvPicPr>
        <p:blipFill rotWithShape="1">
          <a:blip r:embed="rId3">
            <a:alphaModFix/>
          </a:blip>
          <a:srcRect b="7459" l="0" r="0" t="0"/>
          <a:stretch/>
        </p:blipFill>
        <p:spPr>
          <a:xfrm>
            <a:off x="5994350" y="1004122"/>
            <a:ext cx="2852300" cy="23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5"/>
          <p:cNvSpPr txBox="1"/>
          <p:nvPr/>
        </p:nvSpPr>
        <p:spPr>
          <a:xfrm>
            <a:off x="492000" y="1004125"/>
            <a:ext cx="56925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procedure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ID_search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(G,s,g⁢o⁢a⁢l)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Inputs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   G: graph with nodes N and arcs A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   s: start node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   g⁢o⁢a⁢l: Boolean function on nodes   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   path from s to a node for which g⁢o⁢a⁢l is true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   or ⊥ if there is no such path   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9: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Local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   h⁢i⁢t⁢_⁢d⁢e⁢p⁢t⁢h⁢_⁢b⁢o⁢u⁢n⁢d: Boolean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   b⁢o⁢u⁢n⁢d: integer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12: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procedure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Depth_bounded_search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(⟨n0,…,nk⟩,b)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13: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Inputs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14: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      ⟨n0,…,nk⟩: path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15: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      b: integer, b≥0      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17: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      path to goal of length k+b if one exists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18: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b&gt;0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each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arc ⟨nk,n⟩∈A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        r⁢e⁢s:=⁢D⁢e⁢p⁢t⁢h⁢_⁢b⁢o⁢u⁢n⁢d⁢e⁢d⁢_⁢s⁢e⁢a⁢r⁢c⁢h⁢(⟨n0,…,nk,n⟩,b−1)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21: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r⁢e⁢s≠⊥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22: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         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r⁢e⁢s               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23: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g⁢o⁢a⁢l⁢(nk)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24: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⟨n0,…,nk⟩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25: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nk has any neighbors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26: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      h⁢i⁢t⁢_⁢d⁢e⁢p⁢t⁢h⁢_⁢b⁢o⁢u⁢n⁢d:=⁢t⁢r⁢u⁢e      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27: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⊥      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28: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  b⁢o⁢u⁢n⁢d:=⁢0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29: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repeat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30: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   h⁢i⁢t⁢_⁢d⁢e⁢p⁢t⁢h⁢_⁢b⁢o⁢u⁢n⁢d:=⁢f⁢a⁢l⁢s⁢e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31: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   r⁢e⁢s:=⁢D⁢e⁢p⁢t⁢h⁢_⁢b⁢o⁢u⁢n⁢d⁢e⁢d⁢_⁢s⁢e⁢a⁢r⁢c⁢h⁢(⟨s⟩,b⁢o⁢u⁢n⁢d)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32: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r⁢e⁢s≠⊥ 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</a:t>
            </a:r>
            <a:endParaRPr b="1"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33: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res    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34: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   b⁢o⁢u⁢n⁢d:=⁢b⁢o⁢u⁢n⁢d+1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35: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until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not h⁢i⁢t⁢_⁢d⁢e⁢p⁢t⁢h⁢_⁢b⁢o⁢u⁢n⁢d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36: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  </a:t>
            </a:r>
            <a:r>
              <a:rPr b="1"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s" sz="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⊥</a:t>
            </a:r>
            <a:endParaRPr sz="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55"/>
          <p:cNvSpPr txBox="1"/>
          <p:nvPr/>
        </p:nvSpPr>
        <p:spPr>
          <a:xfrm>
            <a:off x="3250900" y="3666000"/>
            <a:ext cx="4991100" cy="12006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importante distinguir: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alcanzó el límite: puede existir una solución más profunda;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agotó el espacio de búsqueda: aumentar el límite no permitirá encontrar una solución.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55"/>
          <p:cNvSpPr txBox="1"/>
          <p:nvPr/>
        </p:nvSpPr>
        <p:spPr>
          <a:xfrm>
            <a:off x="3443900" y="1229975"/>
            <a:ext cx="2226300" cy="20472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algoritmo llama repetidamente a una búsqueda en profundidad limitada. Si la búsqueda se detuvo por alcanzar el límite, lo incrementa y vuelve a comenzar.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con profundidad iterativa (ID)</a:t>
            </a: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: Ejemplo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175" y="1751538"/>
            <a:ext cx="2460475" cy="16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6"/>
          <p:cNvSpPr txBox="1"/>
          <p:nvPr/>
        </p:nvSpPr>
        <p:spPr>
          <a:xfrm>
            <a:off x="444350" y="1057950"/>
            <a:ext cx="15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Estado inicial: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56"/>
          <p:cNvSpPr txBox="1"/>
          <p:nvPr/>
        </p:nvSpPr>
        <p:spPr>
          <a:xfrm>
            <a:off x="3724500" y="1344115"/>
            <a:ext cx="5132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Límite = 0, [⟨A⟩]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 → no encuentra el objetivo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Límite = 1, [⟨A,B⟩, ⟨A,C⟩, ⟨A,D⟩] 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→ no encuentra el objetivo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Límite = 2, [⟨A,B,E⟩, ⟨A,B,F⟩, ⟨A,C,J⟩, ⟨A,D,H⟩] 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→ no encuentra el objetivo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Límite = 3, [⟨A,B,F,D⟩, ⟨A,C,J,G⟩] 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→ encuentra el objetivo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56"/>
          <p:cNvSpPr txBox="1"/>
          <p:nvPr/>
        </p:nvSpPr>
        <p:spPr>
          <a:xfrm>
            <a:off x="2327125" y="3978050"/>
            <a:ext cx="4908600" cy="6465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búsqueda vuelve a comenzar desde A. Al llegar al límite 3, encuentra una solución con la menor cantidad de aristas.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6"/>
          <p:cNvSpPr/>
          <p:nvPr/>
        </p:nvSpPr>
        <p:spPr>
          <a:xfrm>
            <a:off x="5253610" y="2497940"/>
            <a:ext cx="809700" cy="5031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6"/>
          <p:cNvSpPr txBox="1"/>
          <p:nvPr/>
        </p:nvSpPr>
        <p:spPr>
          <a:xfrm>
            <a:off x="5175975" y="3065903"/>
            <a:ext cx="3535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En el último límite no aparece ⟨A,D,H,G⟩ porque la búsqueda se detiene al encontrar primero ⟨A,C,J,G⟩.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/>
        </p:nvSpPr>
        <p:spPr>
          <a:xfrm>
            <a:off x="307700" y="333063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Algoritmo de Dijkstra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14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(Búsqueda por menor costo primero)</a:t>
            </a:r>
            <a:endParaRPr sz="14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57"/>
          <p:cNvSpPr txBox="1"/>
          <p:nvPr/>
        </p:nvSpPr>
        <p:spPr>
          <a:xfrm>
            <a:off x="375075" y="1224725"/>
            <a:ext cx="5415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por menor costo primero selecciona de la frontera el camino con menor costo acumulado.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57"/>
          <p:cNvSpPr txBox="1"/>
          <p:nvPr/>
        </p:nvSpPr>
        <p:spPr>
          <a:xfrm>
            <a:off x="6115650" y="588275"/>
            <a:ext cx="2415300" cy="1200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Cuando varios caminos tienen el mismo costo, es necesario establecer un criterio de desempate.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25" y="2252225"/>
            <a:ext cx="3830451" cy="9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7"/>
          <p:cNvSpPr txBox="1"/>
          <p:nvPr/>
        </p:nvSpPr>
        <p:spPr>
          <a:xfrm>
            <a:off x="754150" y="3212650"/>
            <a:ext cx="4150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 diferencia de BFS, no considera la cantidad de aristas, sino la suma de sus costos.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p57"/>
          <p:cNvPicPr preferRelativeResize="0"/>
          <p:nvPr/>
        </p:nvPicPr>
        <p:blipFill rotWithShape="1">
          <a:blip r:embed="rId4">
            <a:alphaModFix/>
          </a:blip>
          <a:srcRect b="8617" l="16131" r="7129" t="0"/>
          <a:stretch/>
        </p:blipFill>
        <p:spPr>
          <a:xfrm>
            <a:off x="5122200" y="2009825"/>
            <a:ext cx="3678725" cy="219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7"/>
          <p:cNvSpPr txBox="1"/>
          <p:nvPr/>
        </p:nvSpPr>
        <p:spPr>
          <a:xfrm>
            <a:off x="2237400" y="4260150"/>
            <a:ext cx="4240200" cy="6465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los costos de las aristas son positivos, el primer camino que alcanza el objetivo es una solución de costo mínimo.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75" y="1671038"/>
            <a:ext cx="2460475" cy="16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8"/>
          <p:cNvSpPr txBox="1"/>
          <p:nvPr/>
        </p:nvSpPr>
        <p:spPr>
          <a:xfrm>
            <a:off x="2602375" y="3197425"/>
            <a:ext cx="15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Estado inicial: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lang="es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G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58"/>
          <p:cNvSpPr txBox="1"/>
          <p:nvPr/>
        </p:nvSpPr>
        <p:spPr>
          <a:xfrm>
            <a:off x="4775550" y="1057950"/>
            <a:ext cx="3702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1, [⟨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⟩₀]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2, [⟨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⟩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₂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⟨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A,C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⟩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₃, ⟨A,D⟩₄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3, [⟨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,C⟩₃, ⟨A,B,E⟩₄, ⟨A,D⟩₄, ⟨A,B,F⟩₅]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4, [⟨A,B,E⟩₄, ⟨A,D⟩₄, ⟨A,B,F⟩₅, ⟨A,C,J⟩₁₀]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5, [⟨A,D⟩₄, ⟨A,B,F⟩₅, ⟨A,C,J⟩₁₀]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6, [⟨A,B,F⟩₅, ⟨A,D,H⟩₈, ⟨A,C,J⟩₁₀]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7, [⟨A,B,F,D⟩₇, ⟨A,D,H⟩₈, ⟨A,C,J⟩₁₀]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8, [⟨A,D,H⟩₈, ⟨A,C,J⟩₁₀, ⟨A,B,F,D,H⟩₁₁]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9, [⟨A,C,J⟩₁₀, ⟨A,D,H,G⟩₁₁, ⟨A,B,F,D,H⟩₁₁]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 = 10, [⟨A,D,H,G⟩₁₁, ⟨A,B,F,D,H⟩₁₁, ⟨A,C,J,G⟩₁₄]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58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Algoritmo de Dijkstra</a:t>
            </a: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: Ejemplo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14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(o búsqueda de costo uniforme)</a:t>
            </a:r>
            <a:endParaRPr sz="14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58"/>
          <p:cNvSpPr/>
          <p:nvPr/>
        </p:nvSpPr>
        <p:spPr>
          <a:xfrm>
            <a:off x="5211683" y="4061025"/>
            <a:ext cx="850800" cy="4245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8"/>
          <p:cNvSpPr txBox="1"/>
          <p:nvPr/>
        </p:nvSpPr>
        <p:spPr>
          <a:xfrm>
            <a:off x="3961080" y="4485618"/>
            <a:ext cx="164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Solución óptima: 11</a:t>
            </a:r>
            <a:endParaRPr sz="11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59"/>
          <p:cNvPicPr preferRelativeResize="0"/>
          <p:nvPr/>
        </p:nvPicPr>
        <p:blipFill rotWithShape="1">
          <a:blip r:embed="rId3">
            <a:alphaModFix/>
          </a:blip>
          <a:srcRect b="7826" l="0" r="0" t="0"/>
          <a:stretch/>
        </p:blipFill>
        <p:spPr>
          <a:xfrm>
            <a:off x="1591288" y="3050950"/>
            <a:ext cx="2620275" cy="18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9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Búsqueda bidireccional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59"/>
          <p:cNvSpPr txBox="1"/>
          <p:nvPr/>
        </p:nvSpPr>
        <p:spPr>
          <a:xfrm>
            <a:off x="403625" y="1057950"/>
            <a:ext cx="4257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 búsqueda bidireccional realiza dos búsquedas: una hacia adelante desde el estado inicial; otra hacia atrás desde el estado objetivo.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59"/>
          <p:cNvSpPr txBox="1"/>
          <p:nvPr/>
        </p:nvSpPr>
        <p:spPr>
          <a:xfrm>
            <a:off x="5256400" y="500675"/>
            <a:ext cx="3466200" cy="923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Solo puede aplicarse cuando el objetivo está definido explícitamente y es posible generar los estados predecesores desde el objetivo.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9"/>
          <p:cNvSpPr txBox="1"/>
          <p:nvPr/>
        </p:nvSpPr>
        <p:spPr>
          <a:xfrm>
            <a:off x="403625" y="2156792"/>
            <a:ext cx="425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proceso termina cuando ambas fronteras se encuentran. Los dos caminos parciales se combinan para formar una solución.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0" name="Google Shape;3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350" y="1555925"/>
            <a:ext cx="3698225" cy="333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0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Comparación de estrategias no informadas</a:t>
            </a:r>
            <a:endParaRPr sz="14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76" name="Google Shape;376;p60"/>
          <p:cNvGraphicFramePr/>
          <p:nvPr/>
        </p:nvGraphicFramePr>
        <p:xfrm>
          <a:off x="471704" y="10844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{BC0E7C16-8FEF-40FA-8C61-64260221D3E6}</a:tableStyleId>
              </a:tblPr>
              <a:tblGrid>
                <a:gridCol w="1283450"/>
                <a:gridCol w="1927475"/>
                <a:gridCol w="1864975"/>
                <a:gridCol w="1817925"/>
                <a:gridCol w="1075675"/>
              </a:tblGrid>
              <a:tr h="31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Estrategia</a:t>
                      </a:r>
                      <a:endParaRPr b="1"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Selección desde la frontera</a:t>
                      </a:r>
                      <a:endParaRPr b="1"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¿Encuentra una solución?</a:t>
                      </a:r>
                      <a:endParaRPr b="1"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Solución encontrada</a:t>
                      </a:r>
                      <a:endParaRPr b="1"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Memoria</a:t>
                      </a:r>
                      <a:endParaRPr b="1"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 BFS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Camino con menos aristas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Sí, con ramificación finita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cantidad de aristas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Alta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 Costo uniforme (Dijkstra)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Camino con menor costo acumulado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Sí, con costos positivos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costo total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Alta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 DFS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Último camino incorporado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siempre: puede quedar atrapada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garantiza optimalidad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Baja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 Profundidad limitada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Último camino incorporado, sin superar (\ell)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No, si la solución está más allá de (\ell)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garantiza optimalidad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Baja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5. Profundidad iterativa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DFS con límites crecientes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Sí, con ramificación finita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cantidad de aristas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Baja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6. Bidireccional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Expande desde el inicio y el objetivo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Sí, cuando puede buscarse hacia atrás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cantidad de aristas usando BFS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Alta, pero menor que BFS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60"/>
          <p:cNvSpPr txBox="1"/>
          <p:nvPr/>
        </p:nvSpPr>
        <p:spPr>
          <a:xfrm>
            <a:off x="471700" y="4385725"/>
            <a:ext cx="7969500" cy="608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existe una estrategia universalmente mejor: la elección depende del problema y del criterio utilizado para evaluar la solución.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"/>
          <p:cNvSpPr txBox="1"/>
          <p:nvPr/>
        </p:nvSpPr>
        <p:spPr>
          <a:xfrm>
            <a:off x="307700" y="294750"/>
            <a:ext cx="7717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Simulador de algoritmos de búsqueda para agentes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3" name="Google Shape;3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50" y="1559238"/>
            <a:ext cx="5310725" cy="2686475"/>
          </a:xfrm>
          <a:prstGeom prst="rect">
            <a:avLst/>
          </a:prstGeom>
          <a:noFill/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4" name="Google Shape;384;p61">
            <a:hlinkClick r:id="rId4"/>
          </p:cNvPr>
          <p:cNvSpPr txBox="1"/>
          <p:nvPr/>
        </p:nvSpPr>
        <p:spPr>
          <a:xfrm>
            <a:off x="6440200" y="2624675"/>
            <a:ext cx="17463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5"/>
              </a:rPr>
              <a:t>[Click aquí]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389" name="Google Shape;389;p62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390" name="Google Shape;390;p62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391" name="Google Shape;391;p62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392" name="Google Shape;392;p62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2"/>
          <p:cNvSpPr txBox="1"/>
          <p:nvPr>
            <p:ph type="ctrTitle"/>
          </p:nvPr>
        </p:nvSpPr>
        <p:spPr>
          <a:xfrm>
            <a:off x="311700" y="445025"/>
            <a:ext cx="6530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62"/>
          <p:cNvSpPr txBox="1"/>
          <p:nvPr/>
        </p:nvSpPr>
        <p:spPr>
          <a:xfrm>
            <a:off x="545075" y="1236975"/>
            <a:ext cx="775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Russell, S., &amp; Norvig, P. (2021). Artificial Intelligence: A Modern Approach (4th ed.). Pearson.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Poole, D. L., &amp; Mackworth, A. K. (2023). Artificial Intelligence: Foundations of Computational Agents (3rd ed.). Cambridge University Press. </a:t>
            </a: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https://artint.info/3e/html/ArtInt3e.html</a:t>
            </a:r>
            <a:r>
              <a:rPr lang="e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